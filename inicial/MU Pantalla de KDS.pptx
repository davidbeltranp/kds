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E16E1-A9F4-43AB-A2E3-987F359C23EE}" type="datetimeFigureOut">
              <a:rPr lang="es-EC" smtClean="0"/>
              <a:t>25/11/2025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9F91B-88A0-4573-978A-2AD0F26A0196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973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9F91B-88A0-4573-978A-2AD0F26A0196}" type="slidenum">
              <a:rPr lang="es-EC" smtClean="0"/>
              <a:t>7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66136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B1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153911"/>
            <a:ext cx="8382000" cy="70408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0" y="6153911"/>
            <a:ext cx="1607820" cy="5547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0676" y="2707589"/>
            <a:ext cx="5930646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3824" y="2461641"/>
            <a:ext cx="7260590" cy="333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5" dirty="0"/>
              <a:t>P</a:t>
            </a:r>
            <a:r>
              <a:rPr spc="515" dirty="0"/>
              <a:t>AN</a:t>
            </a:r>
            <a:r>
              <a:rPr spc="20" dirty="0"/>
              <a:t>T</a:t>
            </a:r>
            <a:r>
              <a:rPr spc="520" dirty="0"/>
              <a:t>ALLA</a:t>
            </a:r>
            <a:r>
              <a:rPr spc="-125" dirty="0"/>
              <a:t> </a:t>
            </a:r>
            <a:r>
              <a:rPr spc="520" dirty="0"/>
              <a:t>DE</a:t>
            </a:r>
            <a:r>
              <a:rPr spc="-100" dirty="0"/>
              <a:t> </a:t>
            </a:r>
            <a:r>
              <a:rPr spc="540" dirty="0"/>
              <a:t>KDS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1898" y="965453"/>
            <a:ext cx="7729855" cy="1188720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344805" rIns="0" bIns="0" rtlCol="0">
            <a:spAutoFit/>
          </a:bodyPr>
          <a:lstStyle/>
          <a:p>
            <a:pPr marL="1815464">
              <a:lnSpc>
                <a:spcPct val="100000"/>
              </a:lnSpc>
              <a:spcBef>
                <a:spcPts val="2715"/>
              </a:spcBef>
              <a:tabLst>
                <a:tab pos="2330450" algn="l"/>
              </a:tabLst>
            </a:pPr>
            <a:r>
              <a:rPr sz="2800" b="0" spc="-25" dirty="0">
                <a:solidFill>
                  <a:srgbClr val="252525"/>
                </a:solidFill>
                <a:latin typeface="Trebuchet MS"/>
                <a:cs typeface="Trebuchet MS"/>
              </a:rPr>
              <a:t>1.</a:t>
            </a:r>
            <a:r>
              <a:rPr sz="28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800" b="0" spc="170" dirty="0">
                <a:solidFill>
                  <a:srgbClr val="252525"/>
                </a:solidFill>
                <a:latin typeface="Trebuchet MS"/>
                <a:cs typeface="Trebuchet MS"/>
              </a:rPr>
              <a:t>OBJETIVO</a:t>
            </a:r>
            <a:r>
              <a:rPr sz="2800" b="0" spc="2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800" b="0" spc="240" dirty="0">
                <a:solidFill>
                  <a:srgbClr val="252525"/>
                </a:solidFill>
                <a:latin typeface="Trebuchet MS"/>
                <a:cs typeface="Trebuchet MS"/>
              </a:rPr>
              <a:t>GENERAL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0129" y="2660726"/>
            <a:ext cx="75730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solidFill>
                  <a:srgbClr val="252525"/>
                </a:solidFill>
                <a:latin typeface="Trebuchet MS"/>
                <a:cs typeface="Trebuchet MS"/>
              </a:rPr>
              <a:t>Socializar</a:t>
            </a:r>
            <a:r>
              <a:rPr sz="20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3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20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90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0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85" dirty="0">
                <a:solidFill>
                  <a:srgbClr val="252525"/>
                </a:solidFill>
                <a:latin typeface="Trebuchet MS"/>
                <a:cs typeface="Trebuchet MS"/>
              </a:rPr>
              <a:t>básicas</a:t>
            </a:r>
            <a:r>
              <a:rPr sz="20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20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20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70" dirty="0">
                <a:solidFill>
                  <a:srgbClr val="252525"/>
                </a:solidFill>
                <a:latin typeface="Trebuchet MS"/>
                <a:cs typeface="Trebuchet MS"/>
              </a:rPr>
              <a:t>pueden</a:t>
            </a:r>
            <a:r>
              <a:rPr sz="2000" spc="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55" dirty="0">
                <a:solidFill>
                  <a:srgbClr val="252525"/>
                </a:solidFill>
                <a:latin typeface="Trebuchet MS"/>
                <a:cs typeface="Trebuchet MS"/>
              </a:rPr>
              <a:t>hacer</a:t>
            </a:r>
            <a:r>
              <a:rPr sz="20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20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2000" spc="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252525"/>
                </a:solidFill>
                <a:latin typeface="Trebuchet MS"/>
                <a:cs typeface="Trebuchet MS"/>
              </a:rPr>
              <a:t>nueva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6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20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20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000" spc="95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153911"/>
            <a:ext cx="8382000" cy="7040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614930">
              <a:lnSpc>
                <a:spcPct val="100000"/>
              </a:lnSpc>
              <a:spcBef>
                <a:spcPts val="440"/>
              </a:spcBef>
              <a:tabLst>
                <a:tab pos="312991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2.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65" dirty="0">
                <a:solidFill>
                  <a:srgbClr val="252525"/>
                </a:solidFill>
                <a:latin typeface="Trebuchet MS"/>
                <a:cs typeface="Trebuchet MS"/>
              </a:rPr>
              <a:t>DESARROLLO</a:t>
            </a:r>
            <a:r>
              <a:rPr sz="2500" b="0" spc="3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2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2500" b="0" spc="3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10" dirty="0">
                <a:solidFill>
                  <a:srgbClr val="252525"/>
                </a:solidFill>
                <a:latin typeface="Trebuchet MS"/>
                <a:cs typeface="Trebuchet MS"/>
              </a:rPr>
              <a:t>FUNCIONAMIENTO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755" y="1267967"/>
            <a:ext cx="7714488" cy="44302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3.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024" y="1090929"/>
            <a:ext cx="975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800" spc="-25" dirty="0">
                <a:solidFill>
                  <a:srgbClr val="9BAEB5"/>
                </a:solidFill>
                <a:latin typeface="Trebuchet MS"/>
                <a:cs typeface="Trebuchet MS"/>
              </a:rPr>
              <a:t>1.</a:t>
            </a:r>
            <a:r>
              <a:rPr sz="1800" dirty="0">
                <a:solidFill>
                  <a:srgbClr val="9BAEB5"/>
                </a:solidFill>
                <a:latin typeface="Trebuchet MS"/>
                <a:cs typeface="Trebuchet MS"/>
              </a:rPr>
              <a:t>	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servicio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distribución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existe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archivo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conf.txt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nos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permite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hacer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varias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configuraciones.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9295" y="1488947"/>
            <a:ext cx="6752844" cy="4460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983865">
              <a:lnSpc>
                <a:spcPct val="100000"/>
              </a:lnSpc>
              <a:spcBef>
                <a:spcPts val="440"/>
              </a:spcBef>
              <a:tabLst>
                <a:tab pos="349885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4.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30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spc="3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00" dirty="0">
                <a:solidFill>
                  <a:srgbClr val="252525"/>
                </a:solidFill>
                <a:latin typeface="Trebuchet MS"/>
                <a:cs typeface="Trebuchet MS"/>
              </a:rPr>
              <a:t>GENERALES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024" y="1090929"/>
            <a:ext cx="9754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800" spc="-25" dirty="0">
                <a:solidFill>
                  <a:srgbClr val="9BAEB5"/>
                </a:solidFill>
                <a:latin typeface="Trebuchet MS"/>
                <a:cs typeface="Trebuchet MS"/>
              </a:rPr>
              <a:t>1.</a:t>
            </a:r>
            <a:r>
              <a:rPr sz="1800" dirty="0">
                <a:solidFill>
                  <a:srgbClr val="9BAEB5"/>
                </a:solidFill>
                <a:latin typeface="Trebuchet MS"/>
                <a:cs typeface="Trebuchet MS"/>
              </a:rPr>
              <a:t>	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servicio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distribución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existe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archivo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conf.txt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nos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permite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hacer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varias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configuraciones.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620" y="2721864"/>
            <a:ext cx="2839212" cy="1568196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20821" y="1705482"/>
          <a:ext cx="8246110" cy="3507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VALOR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ACCIÓN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lecturaComandas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(Entero)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53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Cada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cuántos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segundos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5" dirty="0">
                          <a:latin typeface="Trebuchet MS"/>
                          <a:cs typeface="Trebuchet MS"/>
                        </a:rPr>
                        <a:t>lee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base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datos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buscando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comandas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nuevas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tiempoVida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4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(Entero)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70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70" dirty="0">
                          <a:latin typeface="Trebuchet MS"/>
                          <a:cs typeface="Trebuchet MS"/>
                        </a:rPr>
                        <a:t>Tiempo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al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multiplicar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por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(en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código)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espera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0" dirty="0"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sistema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antes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dar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por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5" dirty="0">
                          <a:latin typeface="Trebuchet MS"/>
                          <a:cs typeface="Trebuchet MS"/>
                        </a:rPr>
                        <a:t>inactiva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una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se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corta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comunicación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diasRetencionLog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2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(Entero)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828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35" dirty="0">
                          <a:latin typeface="Trebuchet MS"/>
                          <a:cs typeface="Trebuchet MS"/>
                        </a:rPr>
                        <a:t>Cuántos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días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(son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archivos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diferentes)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mantiene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log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comandaYcounters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45" dirty="0">
                          <a:latin typeface="Trebuchet MS"/>
                          <a:cs typeface="Trebuchet MS"/>
                        </a:rPr>
                        <a:t>true|false</a:t>
                      </a:r>
                      <a:r>
                        <a:rPr sz="160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(Bool)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0" dirty="0">
                          <a:latin typeface="Trebuchet MS"/>
                          <a:cs typeface="Trebuchet MS"/>
                        </a:rPr>
                        <a:t>Para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compatibilidad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con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85" dirty="0">
                          <a:latin typeface="Trebuchet MS"/>
                          <a:cs typeface="Trebuchet MS"/>
                        </a:rPr>
                        <a:t>KDS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trade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90" dirty="0">
                          <a:latin typeface="Trebuchet MS"/>
                          <a:cs typeface="Trebuchet MS"/>
                        </a:rPr>
                        <a:t>indicar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0" dirty="0">
                          <a:latin typeface="Trebuchet MS"/>
                          <a:cs typeface="Trebuchet MS"/>
                        </a:rPr>
                        <a:t>False,</a:t>
                      </a:r>
                      <a:r>
                        <a:rPr sz="1600" spc="-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caso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contrario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indicar</a:t>
                      </a:r>
                      <a:r>
                        <a:rPr sz="1600" spc="-2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True.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cuentaProductos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145" dirty="0">
                          <a:latin typeface="Trebuchet MS"/>
                          <a:cs typeface="Trebuchet MS"/>
                        </a:rPr>
                        <a:t>true|false</a:t>
                      </a:r>
                      <a:r>
                        <a:rPr sz="160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(Bool)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953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90" dirty="0">
                          <a:latin typeface="Trebuchet MS"/>
                          <a:cs typeface="Trebuchet MS"/>
                        </a:rPr>
                        <a:t>Enviar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0" dirty="0"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json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cuántas</a:t>
                      </a:r>
                      <a:r>
                        <a:rPr sz="16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unidades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40" dirty="0">
                          <a:latin typeface="Trebuchet MS"/>
                          <a:cs typeface="Trebuchet MS"/>
                        </a:rPr>
                        <a:t>hay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ciertos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productos.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030095">
              <a:lnSpc>
                <a:spcPct val="100000"/>
              </a:lnSpc>
              <a:spcBef>
                <a:spcPts val="440"/>
              </a:spcBef>
              <a:tabLst>
                <a:tab pos="2545080" algn="l"/>
                <a:tab pos="597408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5.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400" dirty="0">
                <a:solidFill>
                  <a:srgbClr val="252525"/>
                </a:solidFill>
                <a:latin typeface="Trebuchet MS"/>
                <a:cs typeface="Trebuchet MS"/>
              </a:rPr>
              <a:t>CONEXIÓN</a:t>
            </a:r>
            <a:r>
              <a:rPr sz="2500" b="0" spc="3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60" dirty="0">
                <a:solidFill>
                  <a:srgbClr val="252525"/>
                </a:solidFill>
                <a:latin typeface="Trebuchet MS"/>
                <a:cs typeface="Trebuchet MS"/>
              </a:rPr>
              <a:t>MXP</a:t>
            </a:r>
            <a:r>
              <a:rPr sz="2500" b="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7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2500" b="0" spc="3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54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024" y="1090929"/>
            <a:ext cx="9467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800" spc="-25" dirty="0">
                <a:solidFill>
                  <a:srgbClr val="9BAEB5"/>
                </a:solidFill>
                <a:latin typeface="Trebuchet MS"/>
                <a:cs typeface="Trebuchet MS"/>
              </a:rPr>
              <a:t>1.</a:t>
            </a:r>
            <a:r>
              <a:rPr sz="1800" dirty="0">
                <a:solidFill>
                  <a:srgbClr val="9BAEB5"/>
                </a:solidFill>
                <a:latin typeface="Trebuchet MS"/>
                <a:cs typeface="Trebuchet MS"/>
              </a:rPr>
              <a:t>	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siguientes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definir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datos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conexiones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bases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datos.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73196" y="2074164"/>
            <a:ext cx="4719828" cy="30251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3840" y="1057655"/>
            <a:ext cx="3693160" cy="30353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857250">
              <a:lnSpc>
                <a:spcPct val="100000"/>
              </a:lnSpc>
              <a:spcBef>
                <a:spcPts val="140"/>
              </a:spcBef>
            </a:pPr>
            <a:r>
              <a:rPr sz="1400" b="1" spc="155" dirty="0">
                <a:solidFill>
                  <a:srgbClr val="252525"/>
                </a:solidFill>
                <a:latin typeface="Trebuchet MS"/>
                <a:cs typeface="Trebuchet MS"/>
              </a:rPr>
              <a:t>CONFIGURAR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60" dirty="0">
                <a:solidFill>
                  <a:srgbClr val="252525"/>
                </a:solidFill>
                <a:latin typeface="Trebuchet MS"/>
                <a:cs typeface="Trebuchet MS"/>
              </a:rPr>
              <a:t>COLAS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247390">
              <a:lnSpc>
                <a:spcPct val="100000"/>
              </a:lnSpc>
              <a:spcBef>
                <a:spcPts val="440"/>
              </a:spcBef>
              <a:tabLst>
                <a:tab pos="376237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6.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30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spc="3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sz="2500" b="0" spc="3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70" dirty="0">
                <a:solidFill>
                  <a:srgbClr val="252525"/>
                </a:solidFill>
                <a:latin typeface="Trebuchet MS"/>
                <a:cs typeface="Trebuchet MS"/>
              </a:rPr>
              <a:t>COLAS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84" y="1542034"/>
            <a:ext cx="1045591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6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6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25" dirty="0">
                <a:solidFill>
                  <a:srgbClr val="252525"/>
                </a:solidFill>
                <a:latin typeface="Trebuchet MS"/>
                <a:cs typeface="Trebuchet MS"/>
              </a:rPr>
              <a:t>define</a:t>
            </a:r>
            <a:r>
              <a:rPr sz="16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2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6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20" dirty="0">
                <a:solidFill>
                  <a:srgbClr val="252525"/>
                </a:solidFill>
                <a:latin typeface="Trebuchet MS"/>
                <a:cs typeface="Trebuchet MS"/>
              </a:rPr>
              <a:t>canales</a:t>
            </a:r>
            <a:r>
              <a:rPr lang="es-EC" sz="1600" spc="-120" dirty="0">
                <a:solidFill>
                  <a:srgbClr val="252525"/>
                </a:solidFill>
                <a:latin typeface="Trebuchet MS"/>
                <a:cs typeface="Trebuchet MS"/>
              </a:rPr>
              <a:t>/medios</a:t>
            </a:r>
            <a:r>
              <a:rPr sz="16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4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6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6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0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6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6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30" dirty="0">
                <a:solidFill>
                  <a:srgbClr val="252525"/>
                </a:solidFill>
                <a:latin typeface="Trebuchet MS"/>
                <a:cs typeface="Trebuchet MS"/>
              </a:rPr>
              <a:t>va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65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6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50" dirty="0">
                <a:solidFill>
                  <a:srgbClr val="252525"/>
                </a:solidFill>
                <a:latin typeface="Trebuchet MS"/>
                <a:cs typeface="Trebuchet MS"/>
              </a:rPr>
              <a:t>trabajar,</a:t>
            </a:r>
            <a:r>
              <a:rPr sz="16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85" dirty="0">
                <a:solidFill>
                  <a:srgbClr val="252525"/>
                </a:solidFill>
                <a:latin typeface="Trebuchet MS"/>
                <a:cs typeface="Trebuchet MS"/>
              </a:rPr>
              <a:t>colas</a:t>
            </a:r>
            <a:r>
              <a:rPr sz="16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20" dirty="0">
                <a:solidFill>
                  <a:srgbClr val="252525"/>
                </a:solidFill>
                <a:latin typeface="Trebuchet MS"/>
                <a:cs typeface="Trebuchet MS"/>
              </a:rPr>
              <a:t>son</a:t>
            </a:r>
            <a:r>
              <a:rPr sz="16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95" dirty="0">
                <a:solidFill>
                  <a:srgbClr val="252525"/>
                </a:solidFill>
                <a:latin typeface="Trebuchet MS"/>
                <a:cs typeface="Trebuchet MS"/>
              </a:rPr>
              <a:t>usadas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70" dirty="0">
                <a:solidFill>
                  <a:srgbClr val="252525"/>
                </a:solidFill>
                <a:latin typeface="Trebuchet MS"/>
                <a:cs typeface="Trebuchet MS"/>
              </a:rPr>
              <a:t>posteriormente</a:t>
            </a:r>
            <a:r>
              <a:rPr sz="16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14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40" dirty="0">
                <a:solidFill>
                  <a:srgbClr val="252525"/>
                </a:solidFill>
                <a:latin typeface="Trebuchet MS"/>
                <a:cs typeface="Trebuchet MS"/>
              </a:rPr>
              <a:t>pantallas.</a:t>
            </a:r>
            <a:r>
              <a:rPr sz="1600" spc="-1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6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90" dirty="0">
                <a:solidFill>
                  <a:srgbClr val="252525"/>
                </a:solidFill>
                <a:latin typeface="Trebuchet MS"/>
                <a:cs typeface="Trebuchet MS"/>
              </a:rPr>
              <a:t>posible</a:t>
            </a:r>
            <a:r>
              <a:rPr sz="16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rebuchet MS"/>
                <a:cs typeface="Trebuchet MS"/>
              </a:rPr>
              <a:t>crear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spc="-110" dirty="0">
                <a:solidFill>
                  <a:srgbClr val="252525"/>
                </a:solidFill>
                <a:latin typeface="Trebuchet MS"/>
                <a:cs typeface="Trebuchet MS"/>
              </a:rPr>
              <a:t>múltiples</a:t>
            </a:r>
            <a:r>
              <a:rPr sz="16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52525"/>
                </a:solidFill>
                <a:latin typeface="Trebuchet MS"/>
                <a:cs typeface="Trebuchet MS"/>
              </a:rPr>
              <a:t>colas.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6453" y="2764891"/>
            <a:ext cx="6428105" cy="273621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este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ejemplo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creación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dos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colas.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ts val="1835"/>
              </a:lnSpc>
              <a:spcBef>
                <a:spcPts val="6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primera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tiene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700" spc="-1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“LINEAS”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recibirá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endParaRPr sz="1700">
              <a:latin typeface="Trebuchet MS"/>
              <a:cs typeface="Trebuchet MS"/>
            </a:endParaRPr>
          </a:p>
          <a:p>
            <a:pPr marL="241300">
              <a:lnSpc>
                <a:spcPts val="1835"/>
              </a:lnSpc>
            </a:pP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medios:</a:t>
            </a:r>
            <a:r>
              <a:rPr sz="1700" spc="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“Llevar”,</a:t>
            </a:r>
            <a:r>
              <a:rPr sz="1700" spc="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“Local”,</a:t>
            </a:r>
            <a:r>
              <a:rPr sz="1700" spc="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“Kiosko-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Efectivo”,“Pickup-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Efectivo”</a:t>
            </a:r>
            <a:endParaRPr sz="1700">
              <a:latin typeface="Trebuchet MS"/>
              <a:cs typeface="Trebuchet MS"/>
            </a:endParaRPr>
          </a:p>
          <a:p>
            <a:pPr marL="241300" marR="372110" indent="-228600">
              <a:lnSpc>
                <a:spcPts val="1630"/>
              </a:lnSpc>
              <a:spcBef>
                <a:spcPts val="985"/>
              </a:spcBef>
              <a:buClr>
                <a:srgbClr val="9BAEB5"/>
              </a:buClr>
              <a:buFont typeface="Arial MT"/>
              <a:buChar char="•"/>
              <a:tabLst>
                <a:tab pos="241300" algn="l"/>
              </a:tabLst>
            </a:pP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segunda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tiene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7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55" dirty="0">
                <a:solidFill>
                  <a:srgbClr val="252525"/>
                </a:solidFill>
                <a:latin typeface="Trebuchet MS"/>
                <a:cs typeface="Trebuchet MS"/>
              </a:rPr>
              <a:t>“COLA_LLAMADA”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recibirá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todos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medios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80000"/>
              </a:lnSpc>
              <a:spcBef>
                <a:spcPts val="1010"/>
              </a:spcBef>
            </a:pP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b="1" spc="-25" dirty="0">
                <a:solidFill>
                  <a:srgbClr val="252525"/>
                </a:solidFill>
                <a:latin typeface="Trebuchet MS"/>
                <a:cs typeface="Trebuchet MS"/>
              </a:rPr>
              <a:t>“canales”</a:t>
            </a:r>
            <a:r>
              <a:rPr sz="1700" b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definir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medios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desea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que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tenga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5" dirty="0">
                <a:solidFill>
                  <a:srgbClr val="252525"/>
                </a:solidFill>
                <a:latin typeface="Trebuchet MS"/>
                <a:cs typeface="Trebuchet MS"/>
              </a:rPr>
              <a:t>cola.</a:t>
            </a:r>
            <a:r>
              <a:rPr sz="1700" spc="-1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dejamos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campo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vacío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(</a:t>
            </a:r>
            <a:r>
              <a:rPr sz="1700" b="1" spc="-35" dirty="0">
                <a:solidFill>
                  <a:srgbClr val="252525"/>
                </a:solidFill>
                <a:latin typeface="Trebuchet MS"/>
                <a:cs typeface="Trebuchet MS"/>
              </a:rPr>
              <a:t>“canales”:[]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)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mostrarán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los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todos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medios.</a:t>
            </a:r>
            <a:endParaRPr sz="1700">
              <a:latin typeface="Trebuchet MS"/>
              <a:cs typeface="Trebuchet MS"/>
            </a:endParaRPr>
          </a:p>
          <a:p>
            <a:pPr marL="12700" marR="218440">
              <a:lnSpc>
                <a:spcPct val="80000"/>
              </a:lnSpc>
              <a:spcBef>
                <a:spcPts val="1010"/>
              </a:spcBef>
            </a:pP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del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tener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espacios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0" dirty="0">
                <a:solidFill>
                  <a:srgbClr val="252525"/>
                </a:solidFill>
                <a:latin typeface="Trebuchet MS"/>
                <a:cs typeface="Trebuchet MS"/>
              </a:rPr>
              <a:t>blanco,</a:t>
            </a:r>
            <a:r>
              <a:rPr sz="1700" spc="-20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sino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deben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ser </a:t>
            </a:r>
            <a:r>
              <a:rPr sz="1700" spc="-75" dirty="0">
                <a:solidFill>
                  <a:srgbClr val="252525"/>
                </a:solidFill>
                <a:latin typeface="Trebuchet MS"/>
                <a:cs typeface="Trebuchet MS"/>
              </a:rPr>
              <a:t>separados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guiones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(-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).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587" y="2528316"/>
            <a:ext cx="3540252" cy="3054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59935" y="1120139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31825">
              <a:lnSpc>
                <a:spcPct val="100000"/>
              </a:lnSpc>
              <a:spcBef>
                <a:spcPts val="135"/>
              </a:spcBef>
            </a:pPr>
            <a:r>
              <a:rPr sz="1400" b="1" spc="155" dirty="0">
                <a:solidFill>
                  <a:srgbClr val="252525"/>
                </a:solidFill>
                <a:latin typeface="Trebuchet MS"/>
                <a:cs typeface="Trebuchet MS"/>
              </a:rPr>
              <a:t>CONFIGURAR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0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877185">
              <a:lnSpc>
                <a:spcPct val="100000"/>
              </a:lnSpc>
              <a:spcBef>
                <a:spcPts val="440"/>
              </a:spcBef>
              <a:tabLst>
                <a:tab pos="3392170" algn="l"/>
                <a:tab pos="682180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84" y="1540509"/>
            <a:ext cx="8870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obedece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cola.</a:t>
            </a:r>
            <a:r>
              <a:rPr sz="1800" spc="2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Nosotros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definimos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con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va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trabajar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pantalla.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0024" y="3592194"/>
            <a:ext cx="10732135" cy="19062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este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ejemplo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creación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dos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pantallas.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primera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tiene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“PANTALLA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60" dirty="0">
                <a:solidFill>
                  <a:srgbClr val="252525"/>
                </a:solidFill>
                <a:latin typeface="Trebuchet MS"/>
                <a:cs typeface="Trebuchet MS"/>
              </a:rPr>
              <a:t>QA”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mostrará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“LINEAS”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segunda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tiene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800" spc="-2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“PANTALLA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2”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mostrará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45" dirty="0">
                <a:solidFill>
                  <a:srgbClr val="252525"/>
                </a:solidFill>
                <a:latin typeface="Trebuchet MS"/>
                <a:cs typeface="Trebuchet MS"/>
              </a:rPr>
              <a:t>“COLA_LLAMADA”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800" spc="-2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60" dirty="0">
                <a:solidFill>
                  <a:srgbClr val="252525"/>
                </a:solidFill>
                <a:latin typeface="Trebuchet MS"/>
                <a:cs typeface="Trebuchet MS"/>
              </a:rPr>
              <a:t>“ip”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ser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colocada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base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servidor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donde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va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mostrar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otra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252525"/>
                </a:solidFill>
                <a:latin typeface="Trebuchet MS"/>
                <a:cs typeface="Trebuchet MS"/>
              </a:rPr>
              <a:t>pantalla.</a:t>
            </a:r>
            <a:r>
              <a:rPr sz="1800" spc="-2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ejemplo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primera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mostrará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servidor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local.</a:t>
            </a:r>
            <a:r>
              <a:rPr sz="1800" spc="-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otra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parte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va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mostrar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server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192.168.101.42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5768" y="2028444"/>
            <a:ext cx="4840224" cy="147675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072" y="2005583"/>
            <a:ext cx="5219700" cy="149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877185">
              <a:lnSpc>
                <a:spcPct val="100000"/>
              </a:lnSpc>
              <a:spcBef>
                <a:spcPts val="440"/>
              </a:spcBef>
              <a:tabLst>
                <a:tab pos="3392170" algn="l"/>
                <a:tab pos="682180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584" y="1092834"/>
            <a:ext cx="886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obedece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cola.</a:t>
            </a:r>
            <a:r>
              <a:rPr sz="1800" spc="2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Nosotros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definimos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con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va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trabajar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pantalla.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62502" y="1545844"/>
          <a:ext cx="8246745" cy="4039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3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11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VALOR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b="1" spc="204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ACCIÓN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Nombre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30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1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Nombre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 de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45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25" dirty="0">
                          <a:latin typeface="Trebuchet MS"/>
                          <a:cs typeface="Trebuchet MS"/>
                        </a:rPr>
                        <a:t>IP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10.1.1.2(Texto)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Ip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Cola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LINEAS</a:t>
                      </a:r>
                      <a:r>
                        <a:rPr sz="1600" spc="10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Cola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6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pertenece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Imprime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20" dirty="0">
                          <a:latin typeface="Trebuchet MS"/>
                          <a:cs typeface="Trebuchet MS"/>
                        </a:rPr>
                        <a:t>SI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430" dirty="0">
                          <a:latin typeface="Trebuchet MS"/>
                          <a:cs typeface="Trebuchet MS"/>
                        </a:rPr>
                        <a:t>|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215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6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406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Al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quitar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4" dirty="0">
                          <a:latin typeface="Trebuchet MS"/>
                          <a:cs typeface="Trebuchet MS"/>
                        </a:rPr>
                        <a:t>una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comanda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4" dirty="0">
                          <a:latin typeface="Trebuchet MS"/>
                          <a:cs typeface="Trebuchet MS"/>
                        </a:rPr>
                        <a:t>indica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si </a:t>
                      </a:r>
                      <a:r>
                        <a:rPr sz="1600" spc="-125" dirty="0">
                          <a:latin typeface="Trebuchet MS"/>
                          <a:cs typeface="Trebuchet MS"/>
                        </a:rPr>
                        <a:t>manda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55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impresión.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ImpresoraNombre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spc="-90" dirty="0">
                          <a:latin typeface="Trebuchet MS"/>
                          <a:cs typeface="Trebuchet MS"/>
                        </a:rPr>
                        <a:t>Caja1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210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600" dirty="0">
                          <a:latin typeface="Trebuchet MS"/>
                          <a:cs typeface="Trebuchet MS"/>
                        </a:rPr>
                        <a:t>Nombre</a:t>
                      </a:r>
                      <a:r>
                        <a:rPr sz="16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impresora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por</a:t>
                      </a:r>
                      <a:r>
                        <a:rPr sz="16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0" dirty="0">
                          <a:latin typeface="Trebuchet MS"/>
                          <a:cs typeface="Trebuchet MS"/>
                        </a:rPr>
                        <a:t>cual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se</a:t>
                      </a:r>
                      <a:r>
                        <a:rPr sz="16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0" dirty="0">
                          <a:latin typeface="Trebuchet MS"/>
                          <a:cs typeface="Trebuchet MS"/>
                        </a:rPr>
                        <a:t>desea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se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impriman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20" dirty="0">
                          <a:latin typeface="Trebuchet MS"/>
                          <a:cs typeface="Trebuchet MS"/>
                        </a:rPr>
                        <a:t>las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comandas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cuando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se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seleccionan</a:t>
                      </a:r>
                      <a:r>
                        <a:rPr sz="16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35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6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60" dirty="0">
                          <a:latin typeface="Trebuchet MS"/>
                          <a:cs typeface="Trebuchet MS"/>
                        </a:rPr>
                        <a:t>KDS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impresoraIP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10.1.1.4(Texto)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565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75" dirty="0">
                          <a:latin typeface="Trebuchet MS"/>
                          <a:cs typeface="Trebuchet MS"/>
                        </a:rPr>
                        <a:t>Ip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0" dirty="0">
                          <a:latin typeface="Trebuchet MS"/>
                          <a:cs typeface="Trebuchet MS"/>
                        </a:rPr>
                        <a:t>impresora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(No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65" dirty="0">
                          <a:latin typeface="Trebuchet MS"/>
                          <a:cs typeface="Trebuchet MS"/>
                        </a:rPr>
                        <a:t>es</a:t>
                      </a:r>
                      <a:r>
                        <a:rPr sz="16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necesario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configurar,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lo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toma</a:t>
                      </a:r>
                      <a:r>
                        <a:rPr sz="16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10" dirty="0"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sz="16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Maxpoint)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10" dirty="0">
                          <a:latin typeface="Trebuchet MS"/>
                          <a:cs typeface="Trebuchet MS"/>
                        </a:rPr>
                        <a:t>impresoraPuerto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40" dirty="0">
                          <a:latin typeface="Trebuchet MS"/>
                          <a:cs typeface="Trebuchet MS"/>
                        </a:rPr>
                        <a:t>9100</a:t>
                      </a:r>
                      <a:r>
                        <a:rPr sz="16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(Número)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600" spc="-55" dirty="0">
                          <a:latin typeface="Trebuchet MS"/>
                          <a:cs typeface="Trebuchet MS"/>
                        </a:rPr>
                        <a:t>Puerto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5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5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6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75" dirty="0">
                          <a:latin typeface="Trebuchet MS"/>
                          <a:cs typeface="Trebuchet MS"/>
                        </a:rPr>
                        <a:t>impresora</a:t>
                      </a:r>
                      <a:r>
                        <a:rPr sz="16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(No</a:t>
                      </a:r>
                      <a:r>
                        <a:rPr sz="16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80" dirty="0">
                          <a:latin typeface="Trebuchet MS"/>
                          <a:cs typeface="Trebuchet MS"/>
                        </a:rPr>
                        <a:t>es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necesario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spc="-120" dirty="0">
                          <a:latin typeface="Trebuchet MS"/>
                          <a:cs typeface="Trebuchet MS"/>
                        </a:rPr>
                        <a:t>configurar,</a:t>
                      </a:r>
                      <a:r>
                        <a:rPr sz="1600" spc="-1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20" dirty="0">
                          <a:latin typeface="Trebuchet MS"/>
                          <a:cs typeface="Trebuchet MS"/>
                        </a:rPr>
                        <a:t>lo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95" dirty="0">
                          <a:latin typeface="Trebuchet MS"/>
                          <a:cs typeface="Trebuchet MS"/>
                        </a:rPr>
                        <a:t>toma</a:t>
                      </a:r>
                      <a:r>
                        <a:rPr sz="16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6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600" spc="-10" dirty="0">
                          <a:latin typeface="Trebuchet MS"/>
                          <a:cs typeface="Trebuchet MS"/>
                        </a:rPr>
                        <a:t>Maxpoint)</a:t>
                      </a:r>
                      <a:endParaRPr sz="16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28" y="3026664"/>
            <a:ext cx="3604260" cy="16840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024" y="1090929"/>
            <a:ext cx="9719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800" spc="-25" dirty="0">
                <a:solidFill>
                  <a:srgbClr val="9BAEB5"/>
                </a:solidFill>
                <a:latin typeface="Trebuchet MS"/>
                <a:cs typeface="Trebuchet MS"/>
              </a:rPr>
              <a:t>1.</a:t>
            </a:r>
            <a:r>
              <a:rPr sz="1800" dirty="0">
                <a:solidFill>
                  <a:srgbClr val="9BAEB5"/>
                </a:solidFill>
                <a:latin typeface="Trebuchet MS"/>
                <a:cs typeface="Trebuchet MS"/>
              </a:rPr>
              <a:t>	</a:t>
            </a:r>
            <a:r>
              <a:rPr sz="1800" spc="125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continuación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detallan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más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destacadas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pueden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realizar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aplicación,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6344411"/>
            <a:ext cx="8382000" cy="51358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5704" y="5791200"/>
            <a:ext cx="1431036" cy="106679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02608" y="1545336"/>
            <a:ext cx="369316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135"/>
              </a:spcBef>
            </a:pPr>
            <a:r>
              <a:rPr sz="1400" b="1" spc="155" dirty="0">
                <a:solidFill>
                  <a:srgbClr val="252525"/>
                </a:solidFill>
                <a:latin typeface="Trebuchet MS"/>
                <a:cs typeface="Trebuchet MS"/>
              </a:rPr>
              <a:t>CONTADORES</a:t>
            </a:r>
            <a:r>
              <a:rPr sz="1400" b="1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45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877185">
              <a:lnSpc>
                <a:spcPct val="100000"/>
              </a:lnSpc>
              <a:spcBef>
                <a:spcPts val="440"/>
              </a:spcBef>
              <a:tabLst>
                <a:tab pos="3392170" algn="l"/>
                <a:tab pos="682180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8704" y="2363723"/>
            <a:ext cx="4646930" cy="3263265"/>
            <a:chOff x="298704" y="2363723"/>
            <a:chExt cx="4646930" cy="326326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8704" y="2363723"/>
              <a:ext cx="4646676" cy="3262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7740" y="2845307"/>
              <a:ext cx="685800" cy="167640"/>
            </a:xfrm>
            <a:custGeom>
              <a:avLst/>
              <a:gdLst/>
              <a:ahLst/>
              <a:cxnLst/>
              <a:rect l="l" t="t" r="r" b="b"/>
              <a:pathLst>
                <a:path w="685800" h="167639">
                  <a:moveTo>
                    <a:pt x="83819" y="0"/>
                  </a:moveTo>
                  <a:lnTo>
                    <a:pt x="0" y="83819"/>
                  </a:lnTo>
                  <a:lnTo>
                    <a:pt x="83819" y="167639"/>
                  </a:lnTo>
                  <a:lnTo>
                    <a:pt x="83819" y="125729"/>
                  </a:lnTo>
                  <a:lnTo>
                    <a:pt x="685799" y="125729"/>
                  </a:lnTo>
                  <a:lnTo>
                    <a:pt x="685799" y="41909"/>
                  </a:lnTo>
                  <a:lnTo>
                    <a:pt x="83819" y="41909"/>
                  </a:lnTo>
                  <a:lnTo>
                    <a:pt x="83819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7740" y="2845307"/>
              <a:ext cx="685800" cy="167640"/>
            </a:xfrm>
            <a:custGeom>
              <a:avLst/>
              <a:gdLst/>
              <a:ahLst/>
              <a:cxnLst/>
              <a:rect l="l" t="t" r="r" b="b"/>
              <a:pathLst>
                <a:path w="685800" h="167639">
                  <a:moveTo>
                    <a:pt x="0" y="83819"/>
                  </a:moveTo>
                  <a:lnTo>
                    <a:pt x="83819" y="0"/>
                  </a:lnTo>
                  <a:lnTo>
                    <a:pt x="83819" y="41909"/>
                  </a:lnTo>
                  <a:lnTo>
                    <a:pt x="685799" y="41909"/>
                  </a:lnTo>
                  <a:lnTo>
                    <a:pt x="685799" y="125729"/>
                  </a:lnTo>
                  <a:lnTo>
                    <a:pt x="83819" y="125729"/>
                  </a:lnTo>
                  <a:lnTo>
                    <a:pt x="83819" y="167639"/>
                  </a:lnTo>
                  <a:lnTo>
                    <a:pt x="0" y="83819"/>
                  </a:lnTo>
                  <a:close/>
                </a:path>
              </a:pathLst>
            </a:custGeom>
            <a:ln w="12191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112258" y="2127250"/>
            <a:ext cx="6881495" cy="157988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238760" indent="-342900">
              <a:lnSpc>
                <a:spcPts val="1839"/>
              </a:lnSpc>
              <a:spcBef>
                <a:spcPts val="330"/>
              </a:spcBef>
              <a:buClr>
                <a:srgbClr val="9BAEB5"/>
              </a:buClr>
              <a:buAutoNum type="arabicPeriod"/>
              <a:tabLst>
                <a:tab pos="355600" algn="l"/>
              </a:tabLst>
            </a:pP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contador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está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ubicado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parte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superior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la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cantidad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total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producto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(Configurable)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preparar.</a:t>
            </a:r>
            <a:endParaRPr sz="1700">
              <a:latin typeface="Trebuchet MS"/>
              <a:cs typeface="Trebuchet MS"/>
            </a:endParaRPr>
          </a:p>
          <a:p>
            <a:pPr marL="355600" marR="5080" indent="-342900">
              <a:lnSpc>
                <a:spcPct val="90000"/>
              </a:lnSpc>
              <a:spcBef>
                <a:spcPts val="975"/>
              </a:spcBef>
              <a:buClr>
                <a:srgbClr val="9BAEB5"/>
              </a:buClr>
              <a:buAutoNum type="arabicPeriod"/>
              <a:tabLst>
                <a:tab pos="355600" algn="l"/>
              </a:tabLst>
            </a:pP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7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poderlo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5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7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modificar</a:t>
            </a:r>
            <a:r>
              <a:rPr sz="17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252525"/>
                </a:solidFill>
                <a:latin typeface="Trebuchet MS"/>
                <a:cs typeface="Trebuchet MS"/>
              </a:rPr>
              <a:t>'counters':</a:t>
            </a:r>
            <a:r>
              <a:rPr sz="1700" b="1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y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asignarle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valor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b="1" spc="-20" dirty="0">
                <a:solidFill>
                  <a:srgbClr val="252525"/>
                </a:solidFill>
                <a:latin typeface="Trebuchet MS"/>
                <a:cs typeface="Trebuchet MS"/>
              </a:rPr>
              <a:t>true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r>
              <a:rPr sz="1700" spc="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Además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configurar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4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rebuchet MS"/>
                <a:cs typeface="Trebuchet MS"/>
              </a:rPr>
              <a:t>"contar":</a:t>
            </a:r>
            <a:r>
              <a:rPr sz="1700" b="1" spc="-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e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indicar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producto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desea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cuente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mostrará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114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7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como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siguiente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5815" y="3962400"/>
            <a:ext cx="6598920" cy="15468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5560" y="972311"/>
            <a:ext cx="665988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5"/>
              </a:spcBef>
            </a:pPr>
            <a:r>
              <a:rPr sz="1400" b="1" spc="80" dirty="0">
                <a:solidFill>
                  <a:srgbClr val="252525"/>
                </a:solidFill>
                <a:latin typeface="Trebuchet MS"/>
                <a:cs typeface="Trebuchet MS"/>
              </a:rPr>
              <a:t>FILTROS</a:t>
            </a:r>
            <a:r>
              <a:rPr sz="1400" b="1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6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0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877185">
              <a:lnSpc>
                <a:spcPct val="100000"/>
              </a:lnSpc>
              <a:spcBef>
                <a:spcPts val="440"/>
              </a:spcBef>
              <a:tabLst>
                <a:tab pos="3392170" algn="l"/>
                <a:tab pos="682180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84" y="1540509"/>
            <a:ext cx="103638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filtros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permiten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solamente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muestren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cumplan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el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filtro.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ejemplo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tengo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filtro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Gaseosa,</a:t>
            </a:r>
            <a:r>
              <a:rPr sz="1800" spc="-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mi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solamente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mostarán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los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tengan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el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texto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gaseosa.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3336" y="3238880"/>
            <a:ext cx="599122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con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“PANTALLA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2”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le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ha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agregado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los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filtros:</a:t>
            </a:r>
            <a:r>
              <a:rPr sz="1800" spc="-2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4" dirty="0">
                <a:solidFill>
                  <a:srgbClr val="252525"/>
                </a:solidFill>
                <a:latin typeface="Trebuchet MS"/>
                <a:cs typeface="Trebuchet MS"/>
              </a:rPr>
              <a:t>Jugo,</a:t>
            </a:r>
            <a:r>
              <a:rPr sz="1800" spc="-2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Gaseosa,</a:t>
            </a:r>
            <a:r>
              <a:rPr sz="1800" spc="-4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Agua.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decir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esta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solo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mostrarán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en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cuyo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tenga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palabra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4" dirty="0">
                <a:solidFill>
                  <a:srgbClr val="252525"/>
                </a:solidFill>
                <a:latin typeface="Trebuchet MS"/>
                <a:cs typeface="Trebuchet MS"/>
              </a:rPr>
              <a:t>Jugo,</a:t>
            </a:r>
            <a:r>
              <a:rPr sz="1800" spc="-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Gaseosa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sz="1800" spc="-20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Agua.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resto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de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como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cumplen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con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filtro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mostrarán.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9584" y="5836411"/>
            <a:ext cx="5892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52525"/>
                </a:solidFill>
                <a:latin typeface="Trebuchet MS"/>
                <a:cs typeface="Trebuchet MS"/>
              </a:rPr>
              <a:t>Nota:</a:t>
            </a:r>
            <a:r>
              <a:rPr sz="1800" b="1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usa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filtros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ya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usar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descartar.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19" y="2947416"/>
            <a:ext cx="3756659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0435" y="1054608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742315">
              <a:lnSpc>
                <a:spcPct val="100000"/>
              </a:lnSpc>
              <a:spcBef>
                <a:spcPts val="135"/>
              </a:spcBef>
            </a:pPr>
            <a:r>
              <a:rPr sz="1400" b="1" spc="145" dirty="0">
                <a:solidFill>
                  <a:srgbClr val="252525"/>
                </a:solidFill>
                <a:latin typeface="Trebuchet MS"/>
                <a:cs typeface="Trebuchet MS"/>
              </a:rPr>
              <a:t>DIVISIÓN</a:t>
            </a:r>
            <a:r>
              <a:rPr sz="1400" b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0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84" y="1540509"/>
            <a:ext cx="7780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dividir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modifica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rebuchet MS"/>
                <a:cs typeface="Trebuchet MS"/>
              </a:rPr>
              <a:t>screenSplit</a:t>
            </a:r>
            <a:r>
              <a:rPr sz="1800" b="1" spc="4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coloca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valor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252525"/>
                </a:solidFill>
                <a:latin typeface="Trebuchet MS"/>
                <a:cs typeface="Trebuchet MS"/>
              </a:rPr>
              <a:t>true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416" y="2171700"/>
            <a:ext cx="4559808" cy="31744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11743" y="5582208"/>
            <a:ext cx="17532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52525"/>
                </a:solidFill>
                <a:latin typeface="Trebuchet MS"/>
                <a:cs typeface="Trebuchet MS"/>
              </a:rPr>
              <a:t>screenSplit</a:t>
            </a:r>
            <a:r>
              <a:rPr sz="1800" b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75" dirty="0">
                <a:solidFill>
                  <a:srgbClr val="252525"/>
                </a:solidFill>
                <a:latin typeface="Trebuchet MS"/>
                <a:cs typeface="Trebuchet MS"/>
              </a:rPr>
              <a:t>: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true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0652" y="2186939"/>
            <a:ext cx="4559808" cy="32004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84273" y="5715711"/>
            <a:ext cx="176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252525"/>
                </a:solidFill>
                <a:latin typeface="Trebuchet MS"/>
                <a:cs typeface="Trebuchet MS"/>
              </a:rPr>
              <a:t>screenSplit</a:t>
            </a:r>
            <a:r>
              <a:rPr sz="18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75" dirty="0">
                <a:solidFill>
                  <a:srgbClr val="252525"/>
                </a:solidFill>
                <a:latin typeface="Trebuchet MS"/>
                <a:cs typeface="Trebuchet MS"/>
              </a:rPr>
              <a:t>: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false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5755" y="1074419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40435">
              <a:lnSpc>
                <a:spcPct val="100000"/>
              </a:lnSpc>
              <a:spcBef>
                <a:spcPts val="135"/>
              </a:spcBef>
            </a:pPr>
            <a:r>
              <a:rPr sz="1400" b="1" spc="170" dirty="0">
                <a:solidFill>
                  <a:srgbClr val="252525"/>
                </a:solidFill>
                <a:latin typeface="Trebuchet MS"/>
                <a:cs typeface="Trebuchet MS"/>
              </a:rPr>
              <a:t>TAMAÑO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05" dirty="0">
                <a:solidFill>
                  <a:srgbClr val="252525"/>
                </a:solidFill>
                <a:latin typeface="Trebuchet MS"/>
                <a:cs typeface="Trebuchet MS"/>
              </a:rPr>
              <a:t>LETRA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5876" y="1523746"/>
            <a:ext cx="4001770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spc="-8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tamaño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letra</a:t>
            </a: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pixeles</a:t>
            </a:r>
            <a:r>
              <a:rPr sz="15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lo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hace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la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ts val="1710"/>
              </a:lnSpc>
            </a:pPr>
            <a:r>
              <a:rPr sz="1500" spc="-125" dirty="0">
                <a:solidFill>
                  <a:srgbClr val="252525"/>
                </a:solidFill>
                <a:latin typeface="Trebuchet MS"/>
                <a:cs typeface="Trebuchet MS"/>
              </a:rPr>
              <a:t>variable:</a:t>
            </a:r>
            <a:r>
              <a:rPr sz="1500" spc="-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b="1" spc="-25" dirty="0">
                <a:solidFill>
                  <a:srgbClr val="252525"/>
                </a:solidFill>
                <a:latin typeface="Trebuchet MS"/>
                <a:cs typeface="Trebuchet MS"/>
              </a:rPr>
              <a:t>'fontSize':</a:t>
            </a:r>
            <a:r>
              <a:rPr sz="1500" b="1" spc="-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52525"/>
                </a:solidFill>
                <a:latin typeface="Trebuchet MS"/>
                <a:cs typeface="Trebuchet MS"/>
              </a:rPr>
              <a:t>'10px',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4884" y="2171700"/>
            <a:ext cx="5006340" cy="3175000"/>
            <a:chOff x="214884" y="2171700"/>
            <a:chExt cx="5006340" cy="31750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415" y="2171700"/>
              <a:ext cx="4559808" cy="31744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0980" y="3307080"/>
              <a:ext cx="579120" cy="184785"/>
            </a:xfrm>
            <a:custGeom>
              <a:avLst/>
              <a:gdLst/>
              <a:ahLst/>
              <a:cxnLst/>
              <a:rect l="l" t="t" r="r" b="b"/>
              <a:pathLst>
                <a:path w="579120" h="184785">
                  <a:moveTo>
                    <a:pt x="486918" y="0"/>
                  </a:moveTo>
                  <a:lnTo>
                    <a:pt x="486918" y="46100"/>
                  </a:lnTo>
                  <a:lnTo>
                    <a:pt x="0" y="46100"/>
                  </a:lnTo>
                  <a:lnTo>
                    <a:pt x="0" y="138303"/>
                  </a:lnTo>
                  <a:lnTo>
                    <a:pt x="486918" y="138303"/>
                  </a:lnTo>
                  <a:lnTo>
                    <a:pt x="486918" y="184404"/>
                  </a:lnTo>
                  <a:lnTo>
                    <a:pt x="579120" y="92202"/>
                  </a:lnTo>
                  <a:lnTo>
                    <a:pt x="486918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0980" y="3307080"/>
              <a:ext cx="579120" cy="184785"/>
            </a:xfrm>
            <a:custGeom>
              <a:avLst/>
              <a:gdLst/>
              <a:ahLst/>
              <a:cxnLst/>
              <a:rect l="l" t="t" r="r" b="b"/>
              <a:pathLst>
                <a:path w="579120" h="184785">
                  <a:moveTo>
                    <a:pt x="0" y="46100"/>
                  </a:moveTo>
                  <a:lnTo>
                    <a:pt x="486918" y="46100"/>
                  </a:lnTo>
                  <a:lnTo>
                    <a:pt x="486918" y="0"/>
                  </a:lnTo>
                  <a:lnTo>
                    <a:pt x="579120" y="92202"/>
                  </a:lnTo>
                  <a:lnTo>
                    <a:pt x="486918" y="184404"/>
                  </a:lnTo>
                  <a:lnTo>
                    <a:pt x="486918" y="138303"/>
                  </a:lnTo>
                  <a:lnTo>
                    <a:pt x="0" y="138303"/>
                  </a:lnTo>
                  <a:lnTo>
                    <a:pt x="0" y="46100"/>
                  </a:lnTo>
                  <a:close/>
                </a:path>
              </a:pathLst>
            </a:custGeom>
            <a:ln w="12192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89903" y="2186939"/>
            <a:ext cx="5210810" cy="3200400"/>
            <a:chOff x="6089903" y="2186939"/>
            <a:chExt cx="5210810" cy="32004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0651" y="2186939"/>
              <a:ext cx="4559808" cy="32004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95999" y="2831591"/>
              <a:ext cx="645160" cy="195580"/>
            </a:xfrm>
            <a:custGeom>
              <a:avLst/>
              <a:gdLst/>
              <a:ahLst/>
              <a:cxnLst/>
              <a:rect l="l" t="t" r="r" b="b"/>
              <a:pathLst>
                <a:path w="645159" h="195580">
                  <a:moveTo>
                    <a:pt x="547116" y="0"/>
                  </a:moveTo>
                  <a:lnTo>
                    <a:pt x="547116" y="48768"/>
                  </a:lnTo>
                  <a:lnTo>
                    <a:pt x="0" y="48768"/>
                  </a:lnTo>
                  <a:lnTo>
                    <a:pt x="0" y="146304"/>
                  </a:lnTo>
                  <a:lnTo>
                    <a:pt x="547116" y="146304"/>
                  </a:lnTo>
                  <a:lnTo>
                    <a:pt x="547116" y="195072"/>
                  </a:lnTo>
                  <a:lnTo>
                    <a:pt x="644651" y="97536"/>
                  </a:lnTo>
                  <a:lnTo>
                    <a:pt x="547116" y="0"/>
                  </a:lnTo>
                  <a:close/>
                </a:path>
              </a:pathLst>
            </a:custGeom>
            <a:solidFill>
              <a:srgbClr val="F6A1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5999" y="2831591"/>
              <a:ext cx="645160" cy="195580"/>
            </a:xfrm>
            <a:custGeom>
              <a:avLst/>
              <a:gdLst/>
              <a:ahLst/>
              <a:cxnLst/>
              <a:rect l="l" t="t" r="r" b="b"/>
              <a:pathLst>
                <a:path w="645159" h="195580">
                  <a:moveTo>
                    <a:pt x="0" y="48768"/>
                  </a:moveTo>
                  <a:lnTo>
                    <a:pt x="547116" y="48768"/>
                  </a:lnTo>
                  <a:lnTo>
                    <a:pt x="547116" y="0"/>
                  </a:lnTo>
                  <a:lnTo>
                    <a:pt x="644651" y="97536"/>
                  </a:lnTo>
                  <a:lnTo>
                    <a:pt x="547116" y="195072"/>
                  </a:lnTo>
                  <a:lnTo>
                    <a:pt x="547116" y="146304"/>
                  </a:lnTo>
                  <a:lnTo>
                    <a:pt x="0" y="146304"/>
                  </a:lnTo>
                  <a:lnTo>
                    <a:pt x="0" y="48768"/>
                  </a:lnTo>
                  <a:close/>
                </a:path>
              </a:pathLst>
            </a:custGeom>
            <a:ln w="12192">
              <a:solidFill>
                <a:srgbClr val="B576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04531" y="1074419"/>
            <a:ext cx="369316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35"/>
              </a:spcBef>
            </a:pPr>
            <a:r>
              <a:rPr sz="1400" b="1" spc="170" dirty="0">
                <a:solidFill>
                  <a:srgbClr val="252525"/>
                </a:solidFill>
                <a:latin typeface="Trebuchet MS"/>
                <a:cs typeface="Trebuchet MS"/>
              </a:rPr>
              <a:t>TAMAÑO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215" dirty="0">
                <a:solidFill>
                  <a:srgbClr val="252525"/>
                </a:solidFill>
                <a:latin typeface="Trebuchet MS"/>
                <a:cs typeface="Trebuchet MS"/>
              </a:rPr>
              <a:t>ANCHO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35" dirty="0">
                <a:solidFill>
                  <a:srgbClr val="252525"/>
                </a:solidFill>
                <a:latin typeface="Trebuchet MS"/>
                <a:cs typeface="Trebuchet MS"/>
              </a:rPr>
              <a:t>TARJETAS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45806" y="1532635"/>
            <a:ext cx="4335145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spc="-105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ajustar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52525"/>
                </a:solidFill>
                <a:latin typeface="Trebuchet MS"/>
                <a:cs typeface="Trebuchet MS"/>
              </a:rPr>
              <a:t>ancho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0" dirty="0">
                <a:solidFill>
                  <a:srgbClr val="252525"/>
                </a:solidFill>
                <a:latin typeface="Trebuchet MS"/>
                <a:cs typeface="Trebuchet MS"/>
              </a:rPr>
              <a:t>tarjeta</a:t>
            </a:r>
            <a:r>
              <a:rPr sz="15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ajusta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tamaño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en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pixeles</a:t>
            </a:r>
            <a:r>
              <a:rPr sz="15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5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variable:</a:t>
            </a:r>
            <a:r>
              <a:rPr sz="1500" spc="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52525"/>
                </a:solidFill>
                <a:latin typeface="Trebuchet MS"/>
                <a:cs typeface="Trebuchet MS"/>
              </a:rPr>
              <a:t>'columnSize':</a:t>
            </a:r>
            <a:r>
              <a:rPr sz="1500" b="1" spc="-2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b="1" spc="-10" dirty="0">
                <a:solidFill>
                  <a:srgbClr val="252525"/>
                </a:solidFill>
                <a:latin typeface="Trebuchet MS"/>
                <a:cs typeface="Trebuchet MS"/>
              </a:rPr>
              <a:t>'250px',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0435" y="1048511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165"/>
              </a:spcBef>
            </a:pPr>
            <a:r>
              <a:rPr sz="1200" b="1" spc="114" dirty="0">
                <a:solidFill>
                  <a:srgbClr val="252525"/>
                </a:solidFill>
                <a:latin typeface="Trebuchet MS"/>
                <a:cs typeface="Trebuchet MS"/>
              </a:rPr>
              <a:t>MODIFICAR</a:t>
            </a:r>
            <a:r>
              <a:rPr sz="1200" b="1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200" b="1" spc="125" dirty="0">
                <a:solidFill>
                  <a:srgbClr val="252525"/>
                </a:solidFill>
                <a:latin typeface="Trebuchet MS"/>
                <a:cs typeface="Trebuchet MS"/>
              </a:rPr>
              <a:t>COLORES</a:t>
            </a:r>
            <a:r>
              <a:rPr sz="1200" b="1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200" b="1" spc="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200" b="1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200" b="1" spc="120" dirty="0">
                <a:solidFill>
                  <a:srgbClr val="252525"/>
                </a:solidFill>
                <a:latin typeface="Trebuchet MS"/>
                <a:cs typeface="Trebuchet MS"/>
              </a:rPr>
              <a:t>MEDIOS</a:t>
            </a:r>
            <a:r>
              <a:rPr sz="1200" b="1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200" b="1" spc="11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200" b="1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200" b="1" spc="145" dirty="0">
                <a:solidFill>
                  <a:srgbClr val="252525"/>
                </a:solidFill>
                <a:latin typeface="Trebuchet MS"/>
                <a:cs typeface="Trebuchet MS"/>
              </a:rPr>
              <a:t>CANAL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783" y="1866900"/>
            <a:ext cx="4980432" cy="3467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8365" y="1559178"/>
            <a:ext cx="54102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Como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observer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apartado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que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indica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canal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tienen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diferentes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colores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los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cuales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son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configurables.</a:t>
            </a:r>
            <a:r>
              <a:rPr sz="1800" spc="-2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esto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modificamos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variable </a:t>
            </a:r>
            <a:r>
              <a:rPr sz="1800" b="1" spc="-10" dirty="0">
                <a:solidFill>
                  <a:srgbClr val="252525"/>
                </a:solidFill>
                <a:latin typeface="Trebuchet MS"/>
                <a:cs typeface="Trebuchet MS"/>
              </a:rPr>
              <a:t>“chanelColor”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1131" y="2814827"/>
            <a:ext cx="4026408" cy="25191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6223" y="1025652"/>
            <a:ext cx="5619115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50"/>
              </a:spcBef>
            </a:pPr>
            <a:r>
              <a:rPr sz="1100" b="1" spc="114" dirty="0">
                <a:solidFill>
                  <a:srgbClr val="252525"/>
                </a:solidFill>
                <a:latin typeface="Trebuchet MS"/>
                <a:cs typeface="Trebuchet MS"/>
              </a:rPr>
              <a:t>MODIFICAR</a:t>
            </a:r>
            <a:r>
              <a:rPr sz="11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6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1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05" dirty="0">
                <a:solidFill>
                  <a:srgbClr val="252525"/>
                </a:solidFill>
                <a:latin typeface="Trebuchet MS"/>
                <a:cs typeface="Trebuchet MS"/>
              </a:rPr>
              <a:t>TIEMPO</a:t>
            </a:r>
            <a:r>
              <a:rPr sz="1100" b="1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14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100" b="1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6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100" b="1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35" dirty="0">
                <a:solidFill>
                  <a:srgbClr val="252525"/>
                </a:solidFill>
                <a:latin typeface="Trebuchet MS"/>
                <a:cs typeface="Trebuchet MS"/>
              </a:rPr>
              <a:t>CAMBIO</a:t>
            </a:r>
            <a:r>
              <a:rPr sz="11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1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35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1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100" b="1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110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55" dirty="0">
                <a:solidFill>
                  <a:srgbClr val="252525"/>
                </a:solidFill>
                <a:latin typeface="Trebuchet MS"/>
                <a:cs typeface="Trebuchet MS"/>
              </a:rPr>
              <a:t>TARJETAS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5" y="2735579"/>
            <a:ext cx="4968240" cy="32979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844" y="1472946"/>
            <a:ext cx="11219180" cy="143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configurar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tiempo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deseamos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mantenga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color.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se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tienen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menos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minuto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tienen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Verde,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 los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están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rango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mayor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minuto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menor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2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tienen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Amarillo.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Finalmente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tienen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más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3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minutos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tienen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rojo.</a:t>
            </a:r>
            <a:endParaRPr sz="1800">
              <a:latin typeface="Trebuchet MS"/>
              <a:cs typeface="Trebuchet MS"/>
            </a:endParaRPr>
          </a:p>
          <a:p>
            <a:pPr marL="5584190" algn="just">
              <a:lnSpc>
                <a:spcPct val="100000"/>
              </a:lnSpc>
              <a:spcBef>
                <a:spcPts val="300"/>
              </a:spcBef>
            </a:pP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tiempo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colores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son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configurables: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5664" y="3147060"/>
            <a:ext cx="4130040" cy="2453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0435" y="1027175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310"/>
              </a:spcBef>
            </a:pPr>
            <a:r>
              <a:rPr sz="1300" b="1" spc="160" dirty="0">
                <a:solidFill>
                  <a:srgbClr val="252525"/>
                </a:solidFill>
                <a:latin typeface="Trebuchet MS"/>
                <a:cs typeface="Trebuchet MS"/>
              </a:rPr>
              <a:t>CANTIDAD</a:t>
            </a:r>
            <a:r>
              <a:rPr sz="1300" b="1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14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300" b="1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170" dirty="0">
                <a:solidFill>
                  <a:srgbClr val="252525"/>
                </a:solidFill>
                <a:latin typeface="Trebuchet MS"/>
                <a:cs typeface="Trebuchet MS"/>
              </a:rPr>
              <a:t>COLUMNAS</a:t>
            </a:r>
            <a:r>
              <a:rPr sz="1300" b="1" spc="-1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18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300" b="1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125" dirty="0">
                <a:solidFill>
                  <a:srgbClr val="252525"/>
                </a:solidFill>
                <a:latin typeface="Trebuchet MS"/>
                <a:cs typeface="Trebuchet MS"/>
              </a:rPr>
              <a:t>MOSTRAR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783" y="1866900"/>
            <a:ext cx="4980432" cy="3467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68365" y="1559178"/>
            <a:ext cx="5603875" cy="220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número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columnas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mostrar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pantalla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configurable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sin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embargo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recomienda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trabajar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un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valor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4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5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columnas.</a:t>
            </a:r>
            <a:r>
              <a:rPr sz="1800" spc="-2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podemos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ver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está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configurado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5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columnas.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>
              <a:latin typeface="Trebuchet MS"/>
              <a:cs typeface="Trebuchet MS"/>
            </a:endParaRPr>
          </a:p>
          <a:p>
            <a:pPr marL="12700" marR="346075">
              <a:lnSpc>
                <a:spcPct val="100000"/>
              </a:lnSpc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configurar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número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columnas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usa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variable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“</a:t>
            </a:r>
            <a:r>
              <a:rPr sz="1800" b="1" spc="-10" dirty="0">
                <a:solidFill>
                  <a:srgbClr val="252525"/>
                </a:solidFill>
                <a:latin typeface="Trebuchet MS"/>
                <a:cs typeface="Trebuchet MS"/>
              </a:rPr>
              <a:t>columnsPerScreen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”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FE5792-E2AE-7621-F22D-A21C57D3B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959353"/>
            <a:ext cx="3520633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9391" y="1146047"/>
            <a:ext cx="3693160" cy="30353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27735">
              <a:lnSpc>
                <a:spcPct val="100000"/>
              </a:lnSpc>
              <a:spcBef>
                <a:spcPts val="140"/>
              </a:spcBef>
            </a:pPr>
            <a:r>
              <a:rPr sz="1400" b="1" spc="140" dirty="0">
                <a:solidFill>
                  <a:srgbClr val="252525"/>
                </a:solidFill>
                <a:latin typeface="Trebuchet MS"/>
                <a:cs typeface="Trebuchet MS"/>
              </a:rPr>
              <a:t>TÍTULO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155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Trebuchet MS"/>
                <a:cs typeface="Trebuchet MS"/>
              </a:rPr>
              <a:t>TARJETA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877185">
              <a:lnSpc>
                <a:spcPct val="100000"/>
              </a:lnSpc>
              <a:spcBef>
                <a:spcPts val="440"/>
              </a:spcBef>
              <a:tabLst>
                <a:tab pos="3392170" algn="l"/>
                <a:tab pos="682180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7.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4276" y="2116912"/>
            <a:ext cx="4923790" cy="15767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ct val="80100"/>
              </a:lnSpc>
              <a:spcBef>
                <a:spcPts val="509"/>
              </a:spcBef>
            </a:pP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Título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40" dirty="0">
                <a:solidFill>
                  <a:srgbClr val="252525"/>
                </a:solidFill>
                <a:latin typeface="Trebuchet MS"/>
                <a:cs typeface="Trebuchet MS"/>
              </a:rPr>
              <a:t>tarjeta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0" dirty="0">
                <a:solidFill>
                  <a:srgbClr val="252525"/>
                </a:solidFill>
                <a:latin typeface="Trebuchet MS"/>
                <a:cs typeface="Trebuchet MS"/>
              </a:rPr>
              <a:t>modificable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lo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7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editar </a:t>
            </a:r>
            <a:r>
              <a:rPr sz="1700" spc="-1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7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5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7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configuración</a:t>
            </a:r>
            <a:r>
              <a:rPr sz="17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“showIdentifier”.Aquí</a:t>
            </a:r>
            <a:r>
              <a:rPr sz="1700" spc="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0" dirty="0">
                <a:solidFill>
                  <a:srgbClr val="252525"/>
                </a:solidFill>
                <a:latin typeface="Trebuchet MS"/>
                <a:cs typeface="Trebuchet MS"/>
              </a:rPr>
              <a:t>tenemos</a:t>
            </a:r>
            <a:r>
              <a:rPr sz="17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los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siguientes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campos: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message:</a:t>
            </a:r>
            <a:r>
              <a:rPr sz="1700" spc="-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Define</a:t>
            </a:r>
            <a:r>
              <a:rPr sz="17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7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7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desea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ts val="1835"/>
              </a:lnSpc>
              <a:spcBef>
                <a:spcPts val="590"/>
              </a:spcBef>
              <a:buClr>
                <a:srgbClr val="9BAEB5"/>
              </a:buClr>
              <a:buFont typeface="Arial MT"/>
              <a:buChar char="•"/>
              <a:tabLst>
                <a:tab pos="240665" algn="l"/>
              </a:tabLst>
            </a:pP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Active:</a:t>
            </a:r>
            <a:r>
              <a:rPr sz="1700" spc="-1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rebuchet MS"/>
                <a:cs typeface="Trebuchet MS"/>
              </a:rPr>
              <a:t>true(Muestra</a:t>
            </a:r>
            <a:r>
              <a:rPr sz="17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05" dirty="0">
                <a:solidFill>
                  <a:srgbClr val="252525"/>
                </a:solidFill>
                <a:latin typeface="Trebuchet MS"/>
                <a:cs typeface="Trebuchet MS"/>
              </a:rPr>
              <a:t>message)</a:t>
            </a:r>
            <a:r>
              <a:rPr sz="17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455" dirty="0">
                <a:solidFill>
                  <a:srgbClr val="252525"/>
                </a:solidFill>
                <a:latin typeface="Trebuchet MS"/>
                <a:cs typeface="Trebuchet MS"/>
              </a:rPr>
              <a:t>|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135" dirty="0">
                <a:solidFill>
                  <a:srgbClr val="252525"/>
                </a:solidFill>
                <a:latin typeface="Trebuchet MS"/>
                <a:cs typeface="Trebuchet MS"/>
              </a:rPr>
              <a:t>false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rebuchet MS"/>
                <a:cs typeface="Trebuchet MS"/>
              </a:rPr>
              <a:t>(Oculta</a:t>
            </a:r>
            <a:r>
              <a:rPr sz="17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700" spc="-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endParaRPr sz="1700">
              <a:latin typeface="Trebuchet MS"/>
              <a:cs typeface="Trebuchet MS"/>
            </a:endParaRPr>
          </a:p>
          <a:p>
            <a:pPr marL="241300">
              <a:lnSpc>
                <a:spcPts val="1835"/>
              </a:lnSpc>
            </a:pPr>
            <a:r>
              <a:rPr sz="1700" spc="-10" dirty="0">
                <a:solidFill>
                  <a:srgbClr val="252525"/>
                </a:solidFill>
                <a:latin typeface="Trebuchet MS"/>
                <a:cs typeface="Trebuchet MS"/>
              </a:rPr>
              <a:t>message)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31" y="2113788"/>
            <a:ext cx="6097524" cy="33604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72043" y="4011167"/>
            <a:ext cx="3076955" cy="10835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66259" y="1075944"/>
            <a:ext cx="369316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40"/>
              </a:spcBef>
            </a:pPr>
            <a:r>
              <a:rPr sz="1400" b="1" spc="135" dirty="0">
                <a:solidFill>
                  <a:srgbClr val="252525"/>
                </a:solidFill>
                <a:latin typeface="Trebuchet MS"/>
                <a:cs typeface="Trebuchet MS"/>
              </a:rPr>
              <a:t>BOTONERAS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792095">
              <a:lnSpc>
                <a:spcPct val="100000"/>
              </a:lnSpc>
              <a:spcBef>
                <a:spcPts val="440"/>
              </a:spcBef>
              <a:tabLst>
                <a:tab pos="3307079" algn="l"/>
                <a:tab pos="673671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8.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-</a:t>
            </a:r>
            <a:r>
              <a:rPr sz="2500" b="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54" dirty="0">
                <a:solidFill>
                  <a:srgbClr val="252525"/>
                </a:solidFill>
                <a:latin typeface="Trebuchet MS"/>
                <a:cs typeface="Trebuchet MS"/>
              </a:rPr>
              <a:t>BOTONERAS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836" y="2830067"/>
            <a:ext cx="1950720" cy="3163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74370" y="1559178"/>
            <a:ext cx="11479530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valores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botonera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después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presionar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botón</a:t>
            </a:r>
            <a:r>
              <a:rPr sz="1800" spc="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son</a:t>
            </a:r>
            <a:r>
              <a:rPr sz="1800" spc="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siguientes: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1,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3,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0" dirty="0">
                <a:solidFill>
                  <a:srgbClr val="252525"/>
                </a:solidFill>
                <a:latin typeface="Trebuchet MS"/>
                <a:cs typeface="Trebuchet MS"/>
              </a:rPr>
              <a:t>i,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h,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g,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0" dirty="0">
                <a:solidFill>
                  <a:srgbClr val="252525"/>
                </a:solidFill>
                <a:latin typeface="Trebuchet MS"/>
                <a:cs typeface="Trebuchet MS"/>
              </a:rPr>
              <a:t>f.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</a:t>
            </a:r>
            <a:r>
              <a:rPr sz="18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tanto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estos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valores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deben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ser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colocados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apartado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252525"/>
                </a:solidFill>
                <a:latin typeface="Trebuchet MS"/>
                <a:cs typeface="Trebuchet MS"/>
              </a:rPr>
              <a:t>“keyboardShortcuts”</a:t>
            </a:r>
            <a:endParaRPr sz="1800">
              <a:latin typeface="Trebuchet MS"/>
              <a:cs typeface="Trebuchet MS"/>
            </a:endParaRPr>
          </a:p>
          <a:p>
            <a:pPr marL="2566035">
              <a:lnSpc>
                <a:spcPct val="100000"/>
              </a:lnSpc>
              <a:spcBef>
                <a:spcPts val="1485"/>
              </a:spcBef>
            </a:pP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nos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permite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hacer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son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siguientes: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942717" y="2853182"/>
          <a:ext cx="8128000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229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finishFirstOrder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35" dirty="0">
                          <a:latin typeface="Trebuchet MS"/>
                          <a:cs typeface="Trebuchet MS"/>
                        </a:rPr>
                        <a:t>Finaliza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primera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está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finishSecondOrder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35" dirty="0">
                          <a:latin typeface="Trebuchet MS"/>
                          <a:cs typeface="Trebuchet MS"/>
                        </a:rPr>
                        <a:t>Finaliza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segunda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está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finishThirdOrder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35" dirty="0">
                          <a:latin typeface="Trebuchet MS"/>
                          <a:cs typeface="Trebuchet MS"/>
                        </a:rPr>
                        <a:t>Finaliza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tercera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está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finishFourthOrder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35" dirty="0">
                          <a:latin typeface="Trebuchet MS"/>
                          <a:cs typeface="Trebuchet MS"/>
                        </a:rPr>
                        <a:t>Finaliza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cuarta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está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finishFifthOrder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35" dirty="0">
                          <a:latin typeface="Trebuchet MS"/>
                          <a:cs typeface="Trebuchet MS"/>
                        </a:rPr>
                        <a:t>Finaliza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quinta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que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5" dirty="0">
                          <a:latin typeface="Trebuchet MS"/>
                          <a:cs typeface="Trebuchet MS"/>
                        </a:rPr>
                        <a:t>está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pantalla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undo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nuevo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última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60" dirty="0">
                          <a:latin typeface="Trebuchet MS"/>
                          <a:cs typeface="Trebuchet MS"/>
                        </a:rPr>
                        <a:t>orden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finalizada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nextPage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Cambia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9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siguiente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página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previousPage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95" dirty="0">
                          <a:latin typeface="Trebuchet MS"/>
                          <a:cs typeface="Trebuchet MS"/>
                        </a:rPr>
                        <a:t>Regresa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90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página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anterior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056233" y="6032703"/>
            <a:ext cx="10255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5" dirty="0">
                <a:solidFill>
                  <a:srgbClr val="252525"/>
                </a:solidFill>
                <a:latin typeface="Trebuchet MS"/>
                <a:cs typeface="Trebuchet MS"/>
              </a:rPr>
              <a:t>BOTONERA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0435" y="1051560"/>
            <a:ext cx="3691254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1400" b="1" spc="135" dirty="0">
                <a:solidFill>
                  <a:srgbClr val="252525"/>
                </a:solidFill>
                <a:latin typeface="Trebuchet MS"/>
                <a:cs typeface="Trebuchet MS"/>
              </a:rPr>
              <a:t>BOTONERAS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89704">
              <a:lnSpc>
                <a:spcPct val="100000"/>
              </a:lnSpc>
              <a:spcBef>
                <a:spcPts val="440"/>
              </a:spcBef>
              <a:tabLst>
                <a:tab pos="45053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8.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endParaRPr sz="25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1924" y="2461641"/>
          <a:ext cx="7171055" cy="3334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38862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VARIABLE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b="1" spc="229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ACCIÓN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resetTime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105" dirty="0">
                          <a:latin typeface="Trebuchet MS"/>
                          <a:cs typeface="Trebuchet MS"/>
                        </a:rPr>
                        <a:t>Resetea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35" dirty="0"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tiempo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70" dirty="0">
                          <a:latin typeface="Trebuchet MS"/>
                          <a:cs typeface="Trebuchet MS"/>
                        </a:rPr>
                        <a:t>promedio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en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despachar</a:t>
                      </a:r>
                      <a:r>
                        <a:rPr sz="18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90" dirty="0">
                          <a:latin typeface="Trebuchet MS"/>
                          <a:cs typeface="Trebuchet MS"/>
                        </a:rPr>
                        <a:t>un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pedido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firstPage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0" dirty="0">
                          <a:latin typeface="Trebuchet MS"/>
                          <a:cs typeface="Trebuchet MS"/>
                        </a:rPr>
                        <a:t>primera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página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secondPage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0" dirty="0">
                          <a:latin typeface="Trebuchet MS"/>
                          <a:cs typeface="Trebuchet MS"/>
                        </a:rPr>
                        <a:t>segunda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página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35" dirty="0">
                          <a:latin typeface="Trebuchet MS"/>
                          <a:cs typeface="Trebuchet MS"/>
                        </a:rPr>
                        <a:t>middlePage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página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mitad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65" dirty="0">
                          <a:latin typeface="Trebuchet MS"/>
                          <a:cs typeface="Trebuchet MS"/>
                        </a:rPr>
                        <a:t>penultimatePage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30" dirty="0">
                          <a:latin typeface="Trebuchet MS"/>
                          <a:cs typeface="Trebuchet MS"/>
                        </a:rPr>
                        <a:t>penúltima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página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lastPage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70" dirty="0">
                          <a:latin typeface="Trebuchet MS"/>
                          <a:cs typeface="Trebuchet MS"/>
                        </a:rPr>
                        <a:t>Muestra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página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final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" dirty="0">
                          <a:latin typeface="Trebuchet MS"/>
                          <a:cs typeface="Trebuchet MS"/>
                        </a:rPr>
                        <a:t>power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105" dirty="0">
                          <a:latin typeface="Trebuchet MS"/>
                          <a:cs typeface="Trebuchet MS"/>
                        </a:rPr>
                        <a:t>Apaga</a:t>
                      </a:r>
                      <a:r>
                        <a:rPr sz="18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8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20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5" dirty="0">
                          <a:latin typeface="Trebuchet MS"/>
                          <a:cs typeface="Trebuchet MS"/>
                        </a:rPr>
                        <a:t>KDS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0" dirty="0">
                          <a:latin typeface="Trebuchet MS"/>
                          <a:cs typeface="Trebuchet MS"/>
                        </a:rPr>
                        <a:t>exit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30" dirty="0">
                          <a:latin typeface="Trebuchet MS"/>
                          <a:cs typeface="Trebuchet MS"/>
                        </a:rPr>
                        <a:t>Cierra</a:t>
                      </a:r>
                      <a:r>
                        <a:rPr sz="18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70" dirty="0">
                          <a:latin typeface="Trebuchet MS"/>
                          <a:cs typeface="Trebuchet MS"/>
                        </a:rPr>
                        <a:t>la</a:t>
                      </a:r>
                      <a:r>
                        <a:rPr sz="18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50" dirty="0">
                          <a:latin typeface="Trebuchet MS"/>
                          <a:cs typeface="Trebuchet MS"/>
                        </a:rPr>
                        <a:t>pantalla</a:t>
                      </a:r>
                      <a:r>
                        <a:rPr sz="18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-114" dirty="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sz="18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800" spc="85" dirty="0">
                          <a:latin typeface="Trebuchet MS"/>
                          <a:cs typeface="Trebuchet MS"/>
                        </a:rPr>
                        <a:t>KDS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9852" y="2596895"/>
            <a:ext cx="3791711" cy="30693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9584" y="1519173"/>
            <a:ext cx="1049147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spc="-6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lavariable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b="1" dirty="0">
                <a:solidFill>
                  <a:srgbClr val="252525"/>
                </a:solidFill>
                <a:latin typeface="Trebuchet MS"/>
                <a:cs typeface="Trebuchet MS"/>
              </a:rPr>
              <a:t>keyboardShortcuts</a:t>
            </a:r>
            <a:r>
              <a:rPr sz="15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5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5" dirty="0">
                <a:solidFill>
                  <a:srgbClr val="252525"/>
                </a:solidFill>
                <a:latin typeface="Trebuchet MS"/>
                <a:cs typeface="Trebuchet MS"/>
              </a:rPr>
              <a:t>realizar</a:t>
            </a:r>
            <a:r>
              <a:rPr sz="15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0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252525"/>
                </a:solidFill>
                <a:latin typeface="Trebuchet MS"/>
                <a:cs typeface="Trebuchet MS"/>
              </a:rPr>
              <a:t>botonera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5" dirty="0">
                <a:solidFill>
                  <a:srgbClr val="252525"/>
                </a:solidFill>
                <a:latin typeface="Trebuchet MS"/>
                <a:cs typeface="Trebuchet MS"/>
              </a:rPr>
              <a:t>asignarle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0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252525"/>
                </a:solidFill>
                <a:latin typeface="Trebuchet MS"/>
                <a:cs typeface="Trebuchet MS"/>
              </a:rPr>
              <a:t>acción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25" dirty="0">
                <a:solidFill>
                  <a:srgbClr val="252525"/>
                </a:solidFill>
                <a:latin typeface="Trebuchet MS"/>
                <a:cs typeface="Trebuchet MS"/>
              </a:rPr>
              <a:t>tal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como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la </a:t>
            </a:r>
            <a:r>
              <a:rPr sz="1500" spc="-120" dirty="0">
                <a:solidFill>
                  <a:srgbClr val="252525"/>
                </a:solidFill>
                <a:latin typeface="Trebuchet MS"/>
                <a:cs typeface="Trebuchet MS"/>
              </a:rPr>
              <a:t>imagen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derecha.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5511" y="1050036"/>
            <a:ext cx="504190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309"/>
              </a:spcBef>
            </a:pPr>
            <a:r>
              <a:rPr sz="1300" b="1" spc="125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3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3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tarjeta</a:t>
            </a:r>
            <a:r>
              <a:rPr sz="1300" b="1" spc="2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3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3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3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3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3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3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300" b="1" spc="-25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015740">
              <a:lnSpc>
                <a:spcPct val="100000"/>
              </a:lnSpc>
              <a:spcBef>
                <a:spcPts val="440"/>
              </a:spcBef>
              <a:tabLst>
                <a:tab pos="453072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9.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ERRORES</a:t>
            </a:r>
            <a:r>
              <a:rPr sz="2500" b="0" spc="3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10" dirty="0">
                <a:solidFill>
                  <a:srgbClr val="252525"/>
                </a:solidFill>
                <a:latin typeface="Trebuchet MS"/>
                <a:cs typeface="Trebuchet MS"/>
              </a:rPr>
              <a:t>COMUNES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9584" y="1540509"/>
            <a:ext cx="10123805" cy="97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facturar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lo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ve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revisar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configuraciones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colas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pertenezca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está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configurado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configurada.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validar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nombre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del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esté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separado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guión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(-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6619" y="3569208"/>
            <a:ext cx="3020568" cy="17221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752" y="2723388"/>
            <a:ext cx="4174236" cy="32842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2015" y="2813304"/>
            <a:ext cx="6347460" cy="30632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15511" y="1050036"/>
            <a:ext cx="5041900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b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400" b="1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Trebuchet MS"/>
                <a:cs typeface="Trebuchet MS"/>
              </a:rPr>
              <a:t>canal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ni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400" b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400" b="1" spc="-9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kds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57954">
              <a:lnSpc>
                <a:spcPct val="100000"/>
              </a:lnSpc>
              <a:spcBef>
                <a:spcPts val="440"/>
              </a:spcBef>
              <a:tabLst>
                <a:tab pos="458724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9.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ERRORES</a:t>
            </a:r>
            <a:r>
              <a:rPr sz="2500" b="0" spc="3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10" dirty="0">
                <a:solidFill>
                  <a:srgbClr val="252525"/>
                </a:solidFill>
                <a:latin typeface="Trebuchet MS"/>
                <a:cs typeface="Trebuchet MS"/>
              </a:rPr>
              <a:t>COMUNES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584" y="1540509"/>
            <a:ext cx="111429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Cuando</a:t>
            </a:r>
            <a:r>
              <a:rPr sz="1800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orden</a:t>
            </a:r>
            <a:r>
              <a:rPr sz="1800" spc="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canal</a:t>
            </a:r>
            <a:r>
              <a:rPr sz="1800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verificar</a:t>
            </a:r>
            <a:r>
              <a:rPr sz="1800" spc="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array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“channelColor”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tenga</a:t>
            </a:r>
            <a:r>
              <a:rPr sz="18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objeto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corresponda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está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facturando.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Es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decir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objeto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channelColor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existe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valor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pickup-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efectivo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de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mostrará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blanco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apartado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canal</a:t>
            </a:r>
            <a:r>
              <a:rPr sz="18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hasta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agregue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ese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medio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array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channelColor.</a:t>
            </a:r>
            <a:r>
              <a:rPr sz="1800" spc="-2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validar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separador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letras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sea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guión</a:t>
            </a:r>
            <a:r>
              <a:rPr sz="1800" spc="-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252525"/>
                </a:solidFill>
                <a:latin typeface="Trebuchet MS"/>
                <a:cs typeface="Trebuchet MS"/>
              </a:rPr>
              <a:t>“-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”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5336" y="2753867"/>
            <a:ext cx="3617976" cy="34320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888" y="1074419"/>
            <a:ext cx="6487795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imprime</a:t>
            </a:r>
            <a:r>
              <a:rPr sz="14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comanda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terminar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400" b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de 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57954">
              <a:lnSpc>
                <a:spcPct val="100000"/>
              </a:lnSpc>
              <a:spcBef>
                <a:spcPts val="440"/>
              </a:spcBef>
              <a:tabLst>
                <a:tab pos="458724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9.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ERRORES</a:t>
            </a:r>
            <a:r>
              <a:rPr sz="2500" b="0" spc="3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10" dirty="0">
                <a:solidFill>
                  <a:srgbClr val="252525"/>
                </a:solidFill>
                <a:latin typeface="Trebuchet MS"/>
                <a:cs typeface="Trebuchet MS"/>
              </a:rPr>
              <a:t>COMUNES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142" y="1757934"/>
            <a:ext cx="11143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dar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clic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imprime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voucher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validar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el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archivo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.conf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validar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la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variable</a:t>
            </a:r>
            <a:r>
              <a:rPr sz="1800" spc="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252525"/>
                </a:solidFill>
                <a:latin typeface="Trebuchet MS"/>
                <a:cs typeface="Trebuchet MS"/>
              </a:rPr>
              <a:t>imprimirNetcore</a:t>
            </a:r>
            <a:r>
              <a:rPr sz="1800" b="1" spc="10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tenga</a:t>
            </a:r>
            <a:r>
              <a:rPr sz="1800" spc="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9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valor</a:t>
            </a:r>
            <a:r>
              <a:rPr sz="1800" spc="-1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“SI”.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7435" y="2735579"/>
            <a:ext cx="5913120" cy="25069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888" y="1074419"/>
            <a:ext cx="6487795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55270">
              <a:lnSpc>
                <a:spcPct val="100000"/>
              </a:lnSpc>
              <a:spcBef>
                <a:spcPts val="135"/>
              </a:spcBef>
            </a:pPr>
            <a:r>
              <a:rPr sz="1400" b="1" spc="140" dirty="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imprime</a:t>
            </a:r>
            <a:r>
              <a:rPr sz="14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comanda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al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terminar</a:t>
            </a:r>
            <a:r>
              <a:rPr sz="14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400" b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pedido</a:t>
            </a:r>
            <a:r>
              <a:rPr sz="14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4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4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252525"/>
                </a:solidFill>
                <a:latin typeface="Trebuchet MS"/>
                <a:cs typeface="Trebuchet MS"/>
              </a:rPr>
              <a:t>de </a:t>
            </a:r>
            <a:r>
              <a:rPr sz="1400" b="1" spc="-25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3957954">
              <a:lnSpc>
                <a:spcPct val="100000"/>
              </a:lnSpc>
              <a:spcBef>
                <a:spcPts val="440"/>
              </a:spcBef>
              <a:tabLst>
                <a:tab pos="458724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9.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ERRORES</a:t>
            </a:r>
            <a:r>
              <a:rPr sz="2500" b="0" spc="3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10" dirty="0">
                <a:solidFill>
                  <a:srgbClr val="252525"/>
                </a:solidFill>
                <a:latin typeface="Trebuchet MS"/>
                <a:cs typeface="Trebuchet MS"/>
              </a:rPr>
              <a:t>COMUNES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9485" y="1965452"/>
            <a:ext cx="6123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Existe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 ocaciones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cuando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comandas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muestran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en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pantalla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800" spc="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rojo</a:t>
            </a:r>
            <a:r>
              <a:rPr sz="1800" spc="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directamente</a:t>
            </a:r>
            <a:r>
              <a:rPr sz="1800" spc="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cuando</a:t>
            </a:r>
            <a:r>
              <a:rPr sz="1800" spc="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debería</a:t>
            </a:r>
            <a:r>
              <a:rPr sz="1800" spc="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estar</a:t>
            </a:r>
            <a:r>
              <a:rPr sz="1800" spc="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de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color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65" dirty="0">
                <a:solidFill>
                  <a:srgbClr val="252525"/>
                </a:solidFill>
                <a:latin typeface="Trebuchet MS"/>
                <a:cs typeface="Trebuchet MS"/>
              </a:rPr>
              <a:t>verde.</a:t>
            </a:r>
            <a:r>
              <a:rPr sz="1800" spc="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Esto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 sucede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servidor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donde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está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instalada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2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hora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del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servidor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está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retrasada</a:t>
            </a:r>
            <a:r>
              <a:rPr sz="1800" spc="2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229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algunos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segundos.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sistema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toma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hora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actual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del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servidor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donde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está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instalada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3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compara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solidFill>
                  <a:srgbClr val="252525"/>
                </a:solidFill>
                <a:latin typeface="Trebuchet MS"/>
                <a:cs typeface="Trebuchet MS"/>
              </a:rPr>
              <a:t>hora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del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servicio</a:t>
            </a:r>
            <a:r>
              <a:rPr sz="1800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8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116" y="2069592"/>
            <a:ext cx="4344924" cy="33695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888" y="1074419"/>
            <a:ext cx="6487795" cy="302260"/>
          </a:xfrm>
          <a:prstGeom prst="rect">
            <a:avLst/>
          </a:prstGeom>
          <a:ln w="9144">
            <a:solidFill>
              <a:srgbClr val="F6A11D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342265">
              <a:lnSpc>
                <a:spcPct val="100000"/>
              </a:lnSpc>
              <a:spcBef>
                <a:spcPts val="50"/>
              </a:spcBef>
            </a:pP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100" b="1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agregar</a:t>
            </a:r>
            <a:r>
              <a:rPr sz="1100" b="1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100" b="1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Trebuchet MS"/>
                <a:cs typeface="Trebuchet MS"/>
              </a:rPr>
              <a:t>descripción</a:t>
            </a:r>
            <a:r>
              <a:rPr sz="1100" b="1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100" b="1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r>
              <a:rPr sz="11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100" b="1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Trebuchet MS"/>
                <a:cs typeface="Trebuchet MS"/>
              </a:rPr>
              <a:t>puede</a:t>
            </a:r>
            <a:r>
              <a:rPr sz="1100" b="1" spc="-6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usar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52525"/>
                </a:solidFill>
                <a:latin typeface="Trebuchet MS"/>
                <a:cs typeface="Trebuchet MS"/>
              </a:rPr>
              <a:t>política</a:t>
            </a:r>
            <a:r>
              <a:rPr sz="1100" b="1" spc="-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100" b="1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252525"/>
                </a:solidFill>
                <a:latin typeface="Trebuchet MS"/>
                <a:cs typeface="Trebuchet MS"/>
              </a:rPr>
              <a:t>nivel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100" b="1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100" b="1" spc="75" dirty="0">
                <a:solidFill>
                  <a:srgbClr val="252525"/>
                </a:solidFill>
                <a:latin typeface="Trebuchet MS"/>
                <a:cs typeface="Trebuchet MS"/>
              </a:rPr>
              <a:t>PLUS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215515">
              <a:lnSpc>
                <a:spcPct val="100000"/>
              </a:lnSpc>
              <a:spcBef>
                <a:spcPts val="440"/>
              </a:spcBef>
              <a:tabLst>
                <a:tab pos="2813050" algn="l"/>
                <a:tab pos="6937375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10.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50" dirty="0">
                <a:solidFill>
                  <a:srgbClr val="252525"/>
                </a:solidFill>
                <a:latin typeface="Trebuchet MS"/>
                <a:cs typeface="Trebuchet MS"/>
              </a:rPr>
              <a:t>AGREGAR</a:t>
            </a:r>
            <a:r>
              <a:rPr sz="2500" b="0" spc="3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70" dirty="0">
                <a:solidFill>
                  <a:srgbClr val="252525"/>
                </a:solidFill>
                <a:latin typeface="Trebuchet MS"/>
                <a:cs typeface="Trebuchet MS"/>
              </a:rPr>
              <a:t>DESCRIPCIÓN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2500" b="0" spc="3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75" dirty="0">
                <a:solidFill>
                  <a:srgbClr val="252525"/>
                </a:solidFill>
                <a:latin typeface="Trebuchet MS"/>
                <a:cs typeface="Trebuchet MS"/>
              </a:rPr>
              <a:t>PRODUCTOS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135" y="4931762"/>
            <a:ext cx="5400675" cy="135699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5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52525"/>
                </a:solidFill>
                <a:latin typeface="Trebuchet MS"/>
                <a:cs typeface="Trebuchet MS"/>
              </a:rPr>
              <a:t>tener</a:t>
            </a:r>
            <a:r>
              <a:rPr sz="15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5" dirty="0">
                <a:solidFill>
                  <a:srgbClr val="252525"/>
                </a:solidFill>
                <a:latin typeface="Trebuchet MS"/>
                <a:cs typeface="Trebuchet MS"/>
              </a:rPr>
              <a:t>obligadamente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40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siguiente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descripción:</a:t>
            </a:r>
            <a:endParaRPr sz="1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500" spc="-10" dirty="0">
                <a:solidFill>
                  <a:srgbClr val="FF0000"/>
                </a:solidFill>
                <a:latin typeface="Trebuchet MS"/>
                <a:cs typeface="Trebuchet MS"/>
              </a:rPr>
              <a:t>Número</a:t>
            </a:r>
            <a:r>
              <a:rPr sz="1500" spc="-10" dirty="0">
                <a:solidFill>
                  <a:srgbClr val="00AF50"/>
                </a:solidFill>
                <a:latin typeface="Trebuchet MS"/>
                <a:cs typeface="Trebuchet MS"/>
              </a:rPr>
              <a:t>x</a:t>
            </a:r>
            <a:r>
              <a:rPr sz="1500" spc="-60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006FC0"/>
                </a:solidFill>
                <a:latin typeface="Trebuchet MS"/>
                <a:cs typeface="Trebuchet MS"/>
              </a:rPr>
              <a:t>Descripción</a:t>
            </a:r>
            <a:r>
              <a:rPr sz="1500" spc="-6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006FC0"/>
                </a:solidFill>
                <a:latin typeface="Trebuchet MS"/>
                <a:cs typeface="Trebuchet MS"/>
              </a:rPr>
              <a:t>de</a:t>
            </a:r>
            <a:r>
              <a:rPr sz="1500" spc="-5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006FC0"/>
                </a:solidFill>
                <a:latin typeface="Trebuchet MS"/>
                <a:cs typeface="Trebuchet MS"/>
              </a:rPr>
              <a:t>producto</a:t>
            </a:r>
            <a:endParaRPr sz="1500" dirty="0">
              <a:latin typeface="Trebuchet MS"/>
              <a:cs typeface="Trebuchet MS"/>
            </a:endParaRPr>
          </a:p>
          <a:p>
            <a:pPr marL="12700" marR="5080">
              <a:lnSpc>
                <a:spcPts val="2630"/>
              </a:lnSpc>
              <a:spcBef>
                <a:spcPts val="80"/>
              </a:spcBef>
            </a:pPr>
            <a:r>
              <a:rPr sz="1500" spc="5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5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separa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252525"/>
                </a:solidFill>
                <a:latin typeface="Trebuchet MS"/>
                <a:cs typeface="Trebuchet MS"/>
              </a:rPr>
              <a:t>por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252525"/>
                </a:solidFill>
                <a:latin typeface="Trebuchet MS"/>
                <a:cs typeface="Trebuchet MS"/>
              </a:rPr>
              <a:t>coma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30" dirty="0">
                <a:solidFill>
                  <a:srgbClr val="252525"/>
                </a:solidFill>
                <a:latin typeface="Trebuchet MS"/>
                <a:cs typeface="Trebuchet MS"/>
              </a:rPr>
              <a:t>(,)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25" dirty="0">
                <a:solidFill>
                  <a:srgbClr val="252525"/>
                </a:solidFill>
                <a:latin typeface="Trebuchet MS"/>
                <a:cs typeface="Trebuchet MS"/>
              </a:rPr>
              <a:t>tal</a:t>
            </a:r>
            <a:r>
              <a:rPr sz="15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como </a:t>
            </a:r>
            <a:r>
              <a:rPr sz="1500" spc="-8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252525"/>
                </a:solidFill>
                <a:latin typeface="Trebuchet MS"/>
                <a:cs typeface="Trebuchet MS"/>
              </a:rPr>
              <a:t>muestra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252525"/>
                </a:solidFill>
                <a:latin typeface="Trebuchet MS"/>
                <a:cs typeface="Trebuchet MS"/>
              </a:rPr>
              <a:t>siguiente</a:t>
            </a:r>
            <a:r>
              <a:rPr sz="1500" spc="-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252525"/>
                </a:solidFill>
                <a:latin typeface="Trebuchet MS"/>
                <a:cs typeface="Trebuchet MS"/>
              </a:rPr>
              <a:t>ejemplo: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1x</a:t>
            </a:r>
            <a:r>
              <a:rPr sz="1500" spc="-2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252525"/>
                </a:solidFill>
                <a:latin typeface="Trebuchet MS"/>
                <a:cs typeface="Trebuchet MS"/>
              </a:rPr>
              <a:t>Texto</a:t>
            </a:r>
            <a:r>
              <a:rPr sz="15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14" dirty="0">
                <a:solidFill>
                  <a:srgbClr val="252525"/>
                </a:solidFill>
                <a:latin typeface="Trebuchet MS"/>
                <a:cs typeface="Trebuchet MS"/>
              </a:rPr>
              <a:t>prueba,</a:t>
            </a:r>
            <a:r>
              <a:rPr sz="1500" spc="-18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2x</a:t>
            </a:r>
            <a:r>
              <a:rPr sz="1500" spc="-2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Trebuchet MS"/>
                <a:cs typeface="Trebuchet MS"/>
              </a:rPr>
              <a:t>TEXTO</a:t>
            </a:r>
            <a:r>
              <a:rPr sz="15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65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50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252525"/>
                </a:solidFill>
                <a:latin typeface="Trebuchet MS"/>
                <a:cs typeface="Trebuchet MS"/>
              </a:rPr>
              <a:t>PRUEBA,</a:t>
            </a:r>
            <a:r>
              <a:rPr sz="1500" spc="-17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252525"/>
                </a:solidFill>
                <a:latin typeface="Trebuchet MS"/>
                <a:cs typeface="Trebuchet MS"/>
              </a:rPr>
              <a:t>3x</a:t>
            </a:r>
            <a:r>
              <a:rPr sz="1500" spc="-2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252525"/>
                </a:solidFill>
                <a:latin typeface="Trebuchet MS"/>
                <a:cs typeface="Trebuchet MS"/>
              </a:rPr>
              <a:t>Texto</a:t>
            </a:r>
            <a:endParaRPr sz="15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431" y="2084832"/>
            <a:ext cx="3901439" cy="26913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6392" y="1372361"/>
            <a:ext cx="111607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Para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pueda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5" dirty="0">
                <a:solidFill>
                  <a:srgbClr val="252525"/>
                </a:solidFill>
                <a:latin typeface="Trebuchet MS"/>
                <a:cs typeface="Trebuchet MS"/>
              </a:rPr>
              <a:t>mostrar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en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75" dirty="0">
                <a:solidFill>
                  <a:srgbClr val="252525"/>
                </a:solidFill>
                <a:latin typeface="Trebuchet MS"/>
                <a:cs typeface="Trebuchet MS"/>
              </a:rPr>
              <a:t>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0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el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contenido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0" dirty="0">
                <a:solidFill>
                  <a:srgbClr val="252525"/>
                </a:solidFill>
                <a:latin typeface="Trebuchet MS"/>
                <a:cs typeface="Trebuchet MS"/>
              </a:rPr>
              <a:t>producto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agregar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nueva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política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9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nivel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PLUS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50" dirty="0">
                <a:solidFill>
                  <a:srgbClr val="252525"/>
                </a:solidFill>
                <a:latin typeface="Trebuchet MS"/>
                <a:cs typeface="Trebuchet MS"/>
              </a:rPr>
              <a:t>llamada</a:t>
            </a:r>
            <a:r>
              <a:rPr sz="1800" spc="-2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14" dirty="0">
                <a:solidFill>
                  <a:srgbClr val="252525"/>
                </a:solidFill>
                <a:latin typeface="Trebuchet MS"/>
                <a:cs typeface="Trebuchet MS"/>
              </a:rPr>
              <a:t>“CONTENIDO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KDS”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235" dirty="0">
                <a:solidFill>
                  <a:srgbClr val="252525"/>
                </a:solidFill>
                <a:latin typeface="Trebuchet MS"/>
                <a:cs typeface="Trebuchet MS"/>
              </a:rPr>
              <a:t>–</a:t>
            </a:r>
            <a:r>
              <a:rPr sz="1800" spc="-2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“DESCRIPCIÓN”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124" y="2084832"/>
            <a:ext cx="5245608" cy="26791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741" y="299465"/>
            <a:ext cx="11809730" cy="559435"/>
          </a:xfrm>
          <a:prstGeom prst="rect">
            <a:avLst/>
          </a:prstGeom>
          <a:solidFill>
            <a:srgbClr val="FFFFFF"/>
          </a:solidFill>
          <a:ln w="32003">
            <a:solidFill>
              <a:srgbClr val="40404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2533015">
              <a:lnSpc>
                <a:spcPct val="100000"/>
              </a:lnSpc>
              <a:spcBef>
                <a:spcPts val="440"/>
              </a:spcBef>
              <a:tabLst>
                <a:tab pos="3162300" algn="l"/>
              </a:tabLst>
            </a:pPr>
            <a:r>
              <a:rPr sz="2500" b="0" spc="-25" dirty="0">
                <a:solidFill>
                  <a:srgbClr val="252525"/>
                </a:solidFill>
                <a:latin typeface="Trebuchet MS"/>
                <a:cs typeface="Trebuchet MS"/>
              </a:rPr>
              <a:t>11.</a:t>
            </a:r>
            <a:r>
              <a:rPr sz="2500" b="0" dirty="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sz="2500" b="0" spc="28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2500" b="0" spc="35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445" dirty="0">
                <a:solidFill>
                  <a:srgbClr val="252525"/>
                </a:solidFill>
                <a:latin typeface="Trebuchet MS"/>
                <a:cs typeface="Trebuchet MS"/>
              </a:rPr>
              <a:t>CON</a:t>
            </a:r>
            <a:r>
              <a:rPr sz="2500" b="0" spc="36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320" dirty="0">
                <a:solidFill>
                  <a:srgbClr val="252525"/>
                </a:solidFill>
                <a:latin typeface="Trebuchet MS"/>
                <a:cs typeface="Trebuchet MS"/>
              </a:rPr>
              <a:t>BALANCEO</a:t>
            </a:r>
            <a:r>
              <a:rPr sz="2500" b="0" spc="3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21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2500" b="0" spc="3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2500" b="0" spc="185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5142" y="1626870"/>
            <a:ext cx="11142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Si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 desea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balanceen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los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75" dirty="0">
                <a:solidFill>
                  <a:srgbClr val="252525"/>
                </a:solidFill>
                <a:latin typeface="Trebuchet MS"/>
                <a:cs typeface="Trebuchet MS"/>
              </a:rPr>
              <a:t>pedidos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entre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dos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0" dirty="0">
                <a:solidFill>
                  <a:srgbClr val="252525"/>
                </a:solidFill>
                <a:latin typeface="Trebuchet MS"/>
                <a:cs typeface="Trebuchet MS"/>
              </a:rPr>
              <a:t>pantallas</a:t>
            </a:r>
            <a:r>
              <a:rPr sz="1800" spc="-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de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110" dirty="0">
                <a:solidFill>
                  <a:srgbClr val="252525"/>
                </a:solidFill>
                <a:latin typeface="Trebuchet MS"/>
                <a:cs typeface="Trebuchet MS"/>
              </a:rPr>
              <a:t>KDS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lo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se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252525"/>
                </a:solidFill>
                <a:latin typeface="Trebuchet MS"/>
                <a:cs typeface="Trebuchet MS"/>
              </a:rPr>
              <a:t>debe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4" dirty="0">
                <a:solidFill>
                  <a:srgbClr val="252525"/>
                </a:solidFill>
                <a:latin typeface="Trebuchet MS"/>
                <a:cs typeface="Trebuchet MS"/>
              </a:rPr>
              <a:t>validar</a:t>
            </a:r>
            <a:r>
              <a:rPr sz="1800" spc="-20" dirty="0">
                <a:solidFill>
                  <a:srgbClr val="252525"/>
                </a:solidFill>
                <a:latin typeface="Trebuchet MS"/>
                <a:cs typeface="Trebuchet MS"/>
              </a:rPr>
              <a:t> es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3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las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plantallas</a:t>
            </a:r>
            <a:r>
              <a:rPr sz="1800" spc="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252525"/>
                </a:solidFill>
                <a:latin typeface="Trebuchet MS"/>
                <a:cs typeface="Trebuchet MS"/>
              </a:rPr>
              <a:t>que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252525"/>
                </a:solidFill>
                <a:latin typeface="Trebuchet MS"/>
                <a:cs typeface="Trebuchet MS"/>
              </a:rPr>
              <a:t>se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deseen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balancear</a:t>
            </a:r>
            <a:r>
              <a:rPr sz="1800" spc="-4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(Pantalla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252525"/>
                </a:solidFill>
                <a:latin typeface="Trebuchet MS"/>
                <a:cs typeface="Trebuchet MS"/>
              </a:rPr>
              <a:t>1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252525"/>
                </a:solidFill>
                <a:latin typeface="Trebuchet MS"/>
                <a:cs typeface="Trebuchet MS"/>
              </a:rPr>
              <a:t>Pantalla</a:t>
            </a:r>
            <a:r>
              <a:rPr sz="1800" spc="-3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2)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compartan</a:t>
            </a:r>
            <a:r>
              <a:rPr sz="1800" spc="-5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35" dirty="0">
                <a:solidFill>
                  <a:srgbClr val="252525"/>
                </a:solidFill>
                <a:latin typeface="Trebuchet MS"/>
                <a:cs typeface="Trebuchet MS"/>
              </a:rPr>
              <a:t>una</a:t>
            </a:r>
            <a:r>
              <a:rPr sz="1800" spc="-15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252525"/>
                </a:solidFill>
                <a:latin typeface="Trebuchet MS"/>
                <a:cs typeface="Trebuchet MS"/>
              </a:rPr>
              <a:t>misma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cola</a:t>
            </a:r>
            <a:r>
              <a:rPr sz="1800" spc="-40" dirty="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252525"/>
                </a:solidFill>
                <a:latin typeface="Trebuchet MS"/>
                <a:cs typeface="Trebuchet MS"/>
              </a:rPr>
              <a:t>(cola_domi).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8305B65-77E3-5E4C-D041-9BAB8C63FB5C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dirty="0"/>
              <a:t>https://forms.office.com/r/cJDq7FBQfA?origin=lprLink</a:t>
            </a:r>
          </a:p>
        </p:txBody>
      </p:sp>
    </p:spTree>
    <p:extLst>
      <p:ext uri="{BB962C8B-B14F-4D97-AF65-F5344CB8AC3E}">
        <p14:creationId xmlns:p14="http://schemas.microsoft.com/office/powerpoint/2010/main" val="3400900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1904</Words>
  <Application>Microsoft Office PowerPoint</Application>
  <PresentationFormat>Panorámica</PresentationFormat>
  <Paragraphs>184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Aptos</vt:lpstr>
      <vt:lpstr>Arial MT</vt:lpstr>
      <vt:lpstr>Calibri</vt:lpstr>
      <vt:lpstr>Trebuchet MS</vt:lpstr>
      <vt:lpstr>Office Theme</vt:lpstr>
      <vt:lpstr>PANTALLA DE KDS</vt:lpstr>
      <vt:lpstr>1. OBJETIVO GENERAL</vt:lpstr>
      <vt:lpstr>2. DESARROLLO EN FUNCIONAMIENTO</vt:lpstr>
      <vt:lpstr>3. CONFIGURACIONES</vt:lpstr>
      <vt:lpstr>4. CONFIGURACIONES GENERALES</vt:lpstr>
      <vt:lpstr>5. CONFIGURACIONES CONEXIÓN MXP Y KDS</vt:lpstr>
      <vt:lpstr>6. CONFIGURACIONES - COLAS</vt:lpstr>
      <vt:lpstr>7. CONFIGURACIONES - PANTALLAS</vt:lpstr>
      <vt:lpstr>7. CONFIGURACIONES - PANTALLAS</vt:lpstr>
      <vt:lpstr>7. CONFIGURACIONES - PANTALLAS</vt:lpstr>
      <vt:lpstr>7. CONFIGURACIONES - PANTALLAS</vt:lpstr>
      <vt:lpstr>7. CONFIGURACIONES</vt:lpstr>
      <vt:lpstr>7. CONFIGURACIONES</vt:lpstr>
      <vt:lpstr>7. CONFIGURACIONES</vt:lpstr>
      <vt:lpstr>7. CONFIGURACIONES</vt:lpstr>
      <vt:lpstr>7. CONFIGURACIONES</vt:lpstr>
      <vt:lpstr>7. CONFIGURACIONES - PANTALLAS</vt:lpstr>
      <vt:lpstr>8. CONFIGURACIONES - BOTONERAS</vt:lpstr>
      <vt:lpstr>8. CONFIGURACIONES</vt:lpstr>
      <vt:lpstr>9. ERRORES COMUNES</vt:lpstr>
      <vt:lpstr>9. ERRORES COMUNES</vt:lpstr>
      <vt:lpstr>9. ERRORES COMUNES</vt:lpstr>
      <vt:lpstr>9. ERRORES COMUNES</vt:lpstr>
      <vt:lpstr>10. AGREGAR DESCRIPCIÓN DE PRODUCTOS</vt:lpstr>
      <vt:lpstr>11. KDS CON BALANCEO DE PANTALLAS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KDS</dc:title>
  <dc:creator>Darío Janeta</dc:creator>
  <cp:lastModifiedBy>David Beltran</cp:lastModifiedBy>
  <cp:revision>3</cp:revision>
  <dcterms:created xsi:type="dcterms:W3CDTF">2025-09-26T18:29:19Z</dcterms:created>
  <dcterms:modified xsi:type="dcterms:W3CDTF">2025-11-26T00:22:05Z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2025-09-26T00:00:00Z</vt:filetime>
  </property>
  <property fmtid="{D5CDD505-2E9C-101B-9397-08002B2CF9AE}" pid="5" name="Producer">
    <vt:lpwstr>Microsoft® PowerPoint® 2016</vt:lpwstr>
  </property>
</Properties>
</file>